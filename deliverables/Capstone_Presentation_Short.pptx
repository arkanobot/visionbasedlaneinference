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Fifteen minutes. Open on the trapezoid result, not the IoU.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method we found starts from paint. Our roads do not have it, and the structure is still there in the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tiers. The only state that matters is the per-session tracker for the live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three is the refusal path, and stage ten is the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result we are proudest of. One assumption is left, the camera height, and Section 3.5 sweeps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count falls out of a measurement and a standard. Reducing n while a lane would be under 2.5 m stops a rounded-up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teacher is not shipped. Only the distilled head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routes: the report, which reads its numbers live, and the demo running the real pipeline. The deployed image has no torch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fourth row is a refusal, and that is correct behaviour rather than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configurations, same frames, same harness. The two grey bars never look at the image; a result means nothing without a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solution rate rising with the filter is the control: a filter that had stopped tracking would improve jitter while coverage fell.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occlusion bug out loud. Volunteering it is worth more than any number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refusal being a feature.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1554480" y="2889504"/>
            <a:ext cx="5760720" cy="96012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2300" dirty="0">
                <a:solidFill>
                  <a:srgbClr val="9700FF"/>
                </a:solidFill>
              </a:rPr>
              <a:t>Vision-Based Lane Inference for Unstructured and Structured Indian Roads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933FF"/>
                </a:solidFill>
                <a:latin typeface="Aptos" panose="020B0004020202020204" pitchFamily="34" charset="0"/>
              </a:rPr>
              <a:t>Presented by: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Harshwardhan Mukund Mohadikar  ·  Shreyas Bhat 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2655681" y="4821080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</a:rPr>
              <a:t>Under the guidance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Dr. Ashok Yemineni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2194560" y="3923234"/>
            <a:ext cx="4206240" cy="35389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BSc Computer Science  ·  2025-26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Lane detection assumes paint. Most of the Indian network has none.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4041648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What every method assumes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THE SHARED PREMISE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Painted lane markings are present in the frame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SCNN and LaneNet label marking pixels, then cluster them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Ultra Fast LDD picks which cell in a row holds a marking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All trained on TuSimple, CULane and BDD100K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72768"/>
            <a:ext cx="68580" cy="275234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3440" y="1554480"/>
            <a:ext cx="4041648" cy="2788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What Indian roads give you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THE ACTUAL INPUT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Paint is absent, worn, or hidden under traffic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Yet the road still carries a structure drivers agree 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That structure is in the geometry, not the markings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572768"/>
            <a:ext cx="68580" cy="275234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4498848"/>
            <a:ext cx="8229600" cy="1298448"/>
          </a:xfrm>
          <a:prstGeom prst="roundRect">
            <a:avLst>
              <a:gd name="adj" fmla="val 4500"/>
            </a:avLst>
          </a:prstGeom>
          <a:solidFill>
            <a:srgbClr val="0A2E6E"/>
          </a:solidFill>
          <a:ln>
            <a:noFill/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F0A500"/>
                </a:solidFill>
                <a:latin typeface="Aptos Display"/>
              </a:rPr>
              <a:t>And the failure is silent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D8E0EC"/>
                </a:solidFill>
                <a:latin typeface="Aptos"/>
              </a:rPr>
              <a:t>A detector that finds nothing looks exactly like one that has failed. Nothing downstream can tell them apart, so on an unmarked road the honest output is a refusal, not a guess.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Rebuild the pipeline so every claim it makes can be measured.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2645664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Primary objectives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WHAT TO BUILD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Review lane detection and inference for Indian road settings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Infer lanes on structured, semi-structured and unstructured roads, from geometry rather than markings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Make that model optimised, effective and lightweight enough for video rate on commodity hardware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Validate against ground truth and trivial baselines, with a confidence that predicts its own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72768"/>
            <a:ext cx="68580" cy="279806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67456" y="1554480"/>
            <a:ext cx="2645664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Secondary objectives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ATTEMPTED, OUTCOMES REPORTED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Wrong-side driving from inferred lane direction: implemented, unvalidated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Traffic flow in unorganised conditions: measured and rejected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Feasibility for basic driver assistance: the limitations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7456" y="1572768"/>
            <a:ext cx="68580" cy="279806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59424" y="1554480"/>
            <a:ext cx="2645664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Scope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BOUNDARIES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In: monocular forward-facing camera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In: single image, video clip, live camera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In: lane count and metric widths, both validated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Also reported, not validated: ego lane, road-user distances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Out: path planning, vehicle control, any other sensor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Out: night and heavy 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9424" y="1572768"/>
            <a:ext cx="68580" cy="279806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" y="4544568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762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7863840" cy="20116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50" b="1">
                <a:solidFill>
                  <a:srgbClr val="6E6E6E"/>
                </a:solidFill>
                <a:latin typeface="Aptos"/>
              </a:rPr>
              <a:t>METHODS THIS RESTS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928616"/>
            <a:ext cx="1092708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MobileNetV3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33372" y="4928616"/>
            <a:ext cx="781812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LR-ASPP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4928616"/>
            <a:ext cx="470916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FPN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4928616"/>
            <a:ext cx="470916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IPM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3904" y="4928616"/>
            <a:ext cx="1248156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Kalman 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4356" y="4928616"/>
            <a:ext cx="704088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IRC:86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0740" y="4928616"/>
            <a:ext cx="1947672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Knowledge distillation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Four tiers, one API surface, and everything in the dashed box is one process.</a:t>
            </a:r>
          </a:p>
        </p:txBody>
      </p:sp>
      <p:pic>
        <p:nvPicPr>
          <p:cNvPr id="4" name="Picture 3" descr="fig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175" y="1554480"/>
            <a:ext cx="5826225" cy="35204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5488" y="5221223"/>
            <a:ext cx="1403604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React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1388" y="5221223"/>
            <a:ext cx="1869948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FastAPI, 11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13632" y="5221223"/>
            <a:ext cx="1714500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Stateless 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0428" y="5221223"/>
            <a:ext cx="2491740" cy="274320"/>
          </a:xfrm>
          <a:prstGeom prst="roundRect">
            <a:avLst>
              <a:gd name="adj" fmla="val 28000"/>
            </a:avLst>
          </a:prstGeom>
          <a:solidFill>
            <a:srgbClr val="EEF2F8"/>
          </a:solidFill>
          <a:ln w="7620">
            <a:solidFill>
              <a:srgbClr val="D6DEEA"/>
            </a:solidFill>
          </a:ln>
          <a:effectLst>
            <a:outerShdw blurRad="38100" dist="10160" dir="2700000" rotWithShape="0">
              <a:srgbClr val="2B3A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rIns="118872" tIns="0" bIns="0"/>
          <a:lstStyle/>
          <a:p>
            <a:pPr algn="ctr"/>
            <a:r>
              <a:rPr sz="950" b="1">
                <a:solidFill>
                  <a:srgbClr val="0A2E6E"/>
                </a:solidFill>
                <a:latin typeface="Aptos"/>
              </a:rPr>
              <a:t>Read-only weights and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End-to-End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Ten stages, including the path where the system declines to answer.</a:t>
            </a:r>
          </a:p>
        </p:txBody>
      </p:sp>
      <p:pic>
        <p:nvPicPr>
          <p:cNvPr id="4" name="Picture 3" descr="fig04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38" y="1554480"/>
            <a:ext cx="819649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Focal Length Cancels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The dataset ships no camera metadata. It turns out not to need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2645664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The problem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NO CALIBRATION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Metric output normally needs the focal length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Arbitrary dashcam footage does not carry it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Pitch is measured per frame from the vanishing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72768"/>
            <a:ext cx="68580" cy="229514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67456" y="1554480"/>
            <a:ext cx="2645664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The algebra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F DIVIDES OUT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dX = du (f H / (v - v_h)) / f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which is du H / (v - v_h)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f appears above and below, and cancels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7456" y="1572768"/>
            <a:ext cx="68580" cy="229514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59424" y="1554480"/>
            <a:ext cx="2645664" cy="2331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The evidence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MEASURED, NOT ASSERTED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Field of view swept 40 to 140 degrees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Lateral scale moves 1.0 per cent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Against a 11.8 per cent median width 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9424" y="1572768"/>
            <a:ext cx="68580" cy="229514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3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92" y="4041648"/>
            <a:ext cx="5984191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From Width to Lane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A published design width applied to a measurement, not an arbitrary divisor.</a:t>
            </a:r>
          </a:p>
        </p:txBody>
      </p:sp>
      <p:pic>
        <p:nvPicPr>
          <p:cNvPr id="4" name="Picture 3" descr="fig07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2" y="1554480"/>
            <a:ext cx="7908372" cy="2606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5488" y="4306824"/>
            <a:ext cx="4041648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The rule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N = ROUND(W / W)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w = 3.50 m at or above a 6.0 m carriageway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w = 3.00 m below it, a narrower road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A 2.5 m floor rejects a sliver of visible tarmac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4325112"/>
            <a:ext cx="68580" cy="165506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4306824"/>
            <a:ext cx="4041648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Why a threshold, not a classifier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DELIBERATE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No scene is labelled urban or rural anywhere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The threshold is on the measured width itself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Nothing has to be recognised for it to 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4325112"/>
            <a:ext cx="68580" cy="165506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The Lane-Marking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IDD has no lane annotation, so YOLOP was used offline as a teacher.</a:t>
            </a:r>
          </a:p>
        </p:txBody>
      </p:sp>
      <p:pic>
        <p:nvPicPr>
          <p:cNvPr id="4" name="Picture 3" descr="fig20_lane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960" y="1554480"/>
            <a:ext cx="5972656" cy="278891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5488" y="4489703"/>
            <a:ext cx="4041648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Distillation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1,607 PSEUDO-LABELS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YOLOP labelled IDD offline, never at run time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A second head trained against those labels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Shares one forward pass with segmentation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4507991"/>
            <a:ext cx="68580" cy="147218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4489703"/>
            <a:ext cx="4041648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What it cost, and bought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BOTH REPORTED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0.011 mIoU on the semantic task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Structured frames rose from 27 to 39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YOLOP is 150 ms on CPU; our head is free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4507991"/>
            <a:ext cx="68580" cy="147218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A running application, not a set of scripts. Everything pinned and reproducible.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2645664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Model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3.33 M PARAMETERS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MobileNetV3-Large backbone, LR-ASPP head, FPN decoder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Seven semantic classes plus the distilled lane head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IDD-20k: 6,993 train, 981 val, 40 epochs, AdamW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72768"/>
            <a:ext cx="68580" cy="206654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67456" y="1554480"/>
            <a:ext cx="2645664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Pipeline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GEOMETRY AND TRACKING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Vanishing point, inverse perspective mapping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Per-row occlusion handling in the width profile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Kalman filter over centreline and width, count vote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7456" y="1572768"/>
            <a:ext cx="68580" cy="206654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59424" y="1554480"/>
            <a:ext cx="2645664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Delivery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SERVED AND TESTED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FastAPI, eleven endpoints; React interface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ONNX Runtime: 226 MB resident, no PyTorch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58 tests over geometry, metrics, API and export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9424" y="1572768"/>
            <a:ext cx="68580" cy="206654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18_ui_analy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196" y="3813048"/>
            <a:ext cx="4062184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Pipeline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A narrow road, a two-lane road, a painted three-lane road, and a refusal.</a:t>
            </a:r>
          </a:p>
        </p:txBody>
      </p:sp>
      <p:pic>
        <p:nvPicPr>
          <p:cNvPr id="4" name="Picture 3" descr="fig16_stage_out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54480"/>
            <a:ext cx="8229600" cy="4509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Results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Measured on the 204-frame IDD-Lite validation split, by a harness that ships with the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0.9310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drivable IoU, deployed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9464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0.7754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boundary F1, deployed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7752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165/204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lane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57416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27 fps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end to end, 36.5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75704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08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48" y="2743200"/>
            <a:ext cx="664548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Is the Geometry Correct?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The hardest question in the project, and the one an examiner should 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0.314 m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median road-edge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9464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11.8%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median width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7752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39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refused of 204, by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57416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4.3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lane flips per 100 frames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75704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2743200"/>
            <a:ext cx="2645664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Against ground truth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2,288 SAMPLES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Outermost inferred boundary against the drivable label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0.314 m median, 1.526 m at p90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Interior divisions have no ground truth anywhere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761488"/>
            <a:ext cx="68580" cy="206654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67456" y="2743200"/>
            <a:ext cx="2645664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Confidence that predicts error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CALIBRATED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Built from signals measured to predict error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Gating at 0.8 takes the median from 0.425 to 0.339 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So the tail is identifiable in advance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7456" y="2761488"/>
            <a:ext cx="68580" cy="206654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59424" y="2743200"/>
            <a:ext cx="2645664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Stable across video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150 CLIPS, 4,526 FRAMES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Width jitter 0.311 to 0.038 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Count flips 20.1 to 4.3 per 100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Solution rate 80.4 to 85.4 per cent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9424" y="2761488"/>
            <a:ext cx="68580" cy="206654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Stated here rather than left for the viva to find.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404164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What did not work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IMPLEMENTED, MEASURED, REJECTED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Fusing the classical and learned branches: 0.9403 to 0.9066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Bridging occlusions before the vanishing point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Inferring lanes from observed traffic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Four test-time remedies for the dashcam domain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72768"/>
            <a:ext cx="68580" cy="2569464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3440" y="1554480"/>
            <a:ext cx="404164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What we cannot claim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LIMITATIONS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Lane counts are inferred, not detected, and unvalidated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Metric scale rests on an assumed 1.75 m camera height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Ego lane and road-user distance are never evaluated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Half the annotated data, IDD-20k Part II, is unused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Not validated for control or any safety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572768"/>
            <a:ext cx="68580" cy="2569464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4315968"/>
            <a:ext cx="8229600" cy="1417320"/>
          </a:xfrm>
          <a:prstGeom prst="roundRect">
            <a:avLst>
              <a:gd name="adj" fmla="val 4500"/>
            </a:avLst>
          </a:prstGeom>
          <a:solidFill>
            <a:srgbClr val="0A2E6E"/>
          </a:solidFill>
          <a:ln>
            <a:noFill/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F0A500"/>
                </a:solidFill>
                <a:latin typeface="Aptos Display"/>
              </a:rPr>
              <a:t>The defect that taught us the most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D8E0EC"/>
                </a:solidFill>
                <a:latin typeface="Aptos"/>
              </a:rPr>
              <a:t>Bridging every vehicle gap joined our carriageway to the opposing one across a median. Found by checking the model against the mask it was built from, not against ground truth: the mask was within 0.20 m, the model 0.58 m wider. Handling occlusion per row took the p90 width error from 151 to 47 per cent.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69037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1">
                <a:solidFill>
                  <a:srgbClr val="1668C0"/>
                </a:solidFill>
                <a:latin typeface="Aptos Display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1144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Aptos"/>
              </a:rPr>
              <a:t>The idea holds, and it is measurable rather than plausible.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165/204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frames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9464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0.31 m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median edge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87752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0.9403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drivable IoU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57416" y="1554480"/>
            <a:ext cx="1947672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A2E6E"/>
                </a:solidFill>
                <a:latin typeface="Aptos Display"/>
              </a:rPr>
              <a:t>58</a:t>
            </a:r>
          </a:p>
          <a:p>
            <a:pPr algn="ctr"/>
            <a:r>
              <a:rPr sz="950">
                <a:solidFill>
                  <a:srgbClr val="6E6E6E"/>
                </a:solidFill>
                <a:latin typeface="Aptos"/>
              </a:rPr>
              <a:t>tests, all passing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75704" y="1554480"/>
            <a:ext cx="1911096" cy="50292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2743200"/>
            <a:ext cx="4041648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What was shown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CONCLUSION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Lane structure can be inferred without markings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Metric scale needs no focal length, only a height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A system that refuses is more useful than one that guesses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761488"/>
            <a:ext cx="68580" cy="1837943"/>
          </a:xfrm>
          <a:prstGeom prst="rect">
            <a:avLst/>
          </a:prstGeom>
          <a:solidFill>
            <a:srgbClr val="16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743200"/>
            <a:ext cx="4041648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CE0E6"/>
            </a:solidFill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4884" rIns="146304" tIns="128016" bIns="109728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0A2E6E"/>
                </a:solidFill>
                <a:latin typeface="Aptos Display"/>
              </a:rPr>
              <a:t>What is next</a:t>
            </a:r>
          </a:p>
          <a:p>
            <a:pPr>
              <a:spcAft>
                <a:spcPts val="800"/>
              </a:spcAft>
            </a:pPr>
            <a:r>
              <a:rPr sz="850" b="1">
                <a:solidFill>
                  <a:srgbClr val="1668C0"/>
                </a:solidFill>
                <a:latin typeface="Aptos"/>
              </a:rPr>
              <a:t>FUTURE WORK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Merge IDD-20k Part II, half the annotated data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Validate ego-lane assignment, the first unmeasured output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Confirm the narrow-road divisor against printed IRC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5606B"/>
                </a:solidFill>
                <a:latin typeface="Aptos"/>
              </a:rPr>
              <a:t>▪  Close the consumer dashcam gap with training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761488"/>
            <a:ext cx="68580" cy="1837943"/>
          </a:xfrm>
          <a:prstGeom prst="rect">
            <a:avLst/>
          </a:prstGeom>
          <a:solidFill>
            <a:srgbClr val="0A2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" y="4782312"/>
            <a:ext cx="8229600" cy="960120"/>
          </a:xfrm>
          <a:prstGeom prst="roundRect">
            <a:avLst>
              <a:gd name="adj" fmla="val 4500"/>
            </a:avLst>
          </a:prstGeom>
          <a:solidFill>
            <a:srgbClr val="0A2E6E"/>
          </a:solidFill>
          <a:ln>
            <a:noFill/>
          </a:ln>
          <a:effectLst>
            <a:outerShdw blurRad="76200" dist="20320" dir="2700000" rotWithShape="0">
              <a:srgbClr val="2B3A4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F0A500"/>
                </a:solidFill>
                <a:latin typeface="Aptos Display"/>
              </a:rPr>
              <a:t>Thank you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D8E0EC"/>
                </a:solidFill>
                <a:latin typeface="Aptos"/>
              </a:rPr>
              <a:t>Questions.   ·   github.com/Arkanobot/VisionBasedLaneInference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Vision-Based Lane Inference for Unstructured and Structured Indian Roads</dc:title>
  <dc:subject>BITS Pilani, BSc Computer Science, capstone project</dc:subject>
  <dc:creator>Harshwardhan Mukund Mohadikar; Shreyas Bhat K</dc:creator>
  <cp:keywords/>
  <dc:description/>
  <cp:lastModifiedBy>Harshwardhan Mukund Mohadikar</cp:lastModifiedBy>
  <cp:revision>3</cp:revision>
  <dcterms:created xsi:type="dcterms:W3CDTF">2013-01-27T09:14:16Z</dcterms:created>
  <dcterms:modified xsi:type="dcterms:W3CDTF">2026-02-10T05:45:53Z</dcterms:modified>
  <cp:category/>
</cp:coreProperties>
</file>