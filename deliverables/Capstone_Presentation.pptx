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5" r:id="rId1"/>
  </p:sldMasterIdLst>
  <p:notesMasterIdLst>
    <p:notesMasterId r:id="rId12"/>
  </p:notesMasterIdLst>
  <p:sldIdLst>
    <p:sldId id="267" r:id="rId2"/>
    <p:sldId id="257" r:id="rId3"/>
    <p:sldId id="258" r:id="rId4"/>
    <p:sldId id="259" r:id="rId5"/>
    <p:sldId id="260" r:id="rId6"/>
    <p:sldId id="261" r:id="rId7"/>
    <p:sldId id="262" r:id="rId8"/>
    <p:sldId id="263" r:id="rId9"/>
    <p:sldId id="264" r:id="rId10"/>
    <p:sldId id="265" r:id="rId11"/>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49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59165C-6148-4912-9C46-75FE6B9EA871}" type="datetimeFigureOut">
              <a:rPr lang="en-IN" smtClean="0"/>
              <a:t>10-02-2026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CDE88F-770C-4B59-A1C0-CD1D8058F94C}" type="slidenum">
              <a:rPr lang="en-IN" smtClean="0"/>
              <a:t>‹#›</a:t>
            </a:fld>
            <a:endParaRPr lang="en-IN"/>
          </a:p>
        </p:txBody>
      </p:sp>
    </p:spTree>
    <p:extLst>
      <p:ext uri="{BB962C8B-B14F-4D97-AF65-F5344CB8AC3E}">
        <p14:creationId xmlns:p14="http://schemas.microsoft.com/office/powerpoint/2010/main" val="1368521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Open on the trapezoid result, not the IoU.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inside the dashed box is one process.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three is the refusal path.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flat across a hundred degrees, red moves nine-fold.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here. Upload a frame, read the cluster, step the five 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row is a refusal, and that is correct behaviour.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Marked road: all four lines. Unmarked road: 0.00 per cent. The second row is the one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here if you can.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panel is the control: coverage rises with the filter, so it smooths rather than ignores.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Strongest slide for a viva. Four measured negative results, kept 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186C9-2BBA-55D0-BD4B-F8B71E2ECF16}"/>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54DE6BA-4AE7-822A-85CC-92BCCD9D6A2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707BC8C-59D5-7186-B66E-4FCA965220D8}"/>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a:extLst>
              <a:ext uri="{FF2B5EF4-FFF2-40B4-BE49-F238E27FC236}">
                <a16:creationId xmlns:a16="http://schemas.microsoft.com/office/drawing/2014/main" id="{B7F99DD2-136E-B005-965D-33285448D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D1715-6A40-FAAC-BD2C-F7BE86FD8961}"/>
              </a:ext>
            </a:extLst>
          </p:cNvPr>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B46724B-C345-9FA0-667D-03555D2E5C7D}"/>
              </a:ext>
            </a:extLst>
          </p:cNvPr>
          <p:cNvPicPr>
            <a:picLocks/>
          </p:cNvPicPr>
          <p:nvPr/>
        </p:nvPicPr>
        <p:blipFill>
          <a:blip r:embed="rId2"/>
          <a:stretch>
            <a:fillRect/>
          </a:stretch>
        </p:blipFill>
        <p:spPr>
          <a:xfrm>
            <a:off x="-2" y="6466115"/>
            <a:ext cx="9153000" cy="108000"/>
          </a:xfrm>
          <a:prstGeom prst="rect">
            <a:avLst/>
          </a:prstGeom>
        </p:spPr>
      </p:pic>
    </p:spTree>
    <p:extLst>
      <p:ext uri="{BB962C8B-B14F-4D97-AF65-F5344CB8AC3E}">
        <p14:creationId xmlns:p14="http://schemas.microsoft.com/office/powerpoint/2010/main" val="2729257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8838B-2600-6588-AFF2-968994DAE8E7}"/>
              </a:ext>
            </a:extLst>
          </p:cNvPr>
          <p:cNvSpPr>
            <a:spLocks noGrp="1"/>
          </p:cNvSpPr>
          <p:nvPr>
            <p:ph type="title"/>
          </p:nvPr>
        </p:nvSpPr>
        <p:spPr>
          <a:xfrm>
            <a:off x="331470" y="349886"/>
            <a:ext cx="6995160" cy="930665"/>
          </a:xfrm>
        </p:spPr>
        <p:txBody>
          <a:bodyPr/>
          <a:lstStyle>
            <a:lvl1pPr>
              <a:defRPr b="1" i="0">
                <a:latin typeface="Arial Narrow" panose="020B0604020202020204" pitchFamily="34" charset="0"/>
                <a:cs typeface="Arial Narrow"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37DF390-C3B8-3F09-F40D-85696C04CD79}"/>
              </a:ext>
            </a:extLst>
          </p:cNvPr>
          <p:cNvSpPr>
            <a:spLocks noGrp="1"/>
          </p:cNvSpPr>
          <p:nvPr>
            <p:ph idx="1"/>
          </p:nvPr>
        </p:nvSpPr>
        <p:spPr>
          <a:xfrm>
            <a:off x="400050" y="1825625"/>
            <a:ext cx="8492490" cy="4351338"/>
          </a:xfrm>
        </p:spPr>
        <p:txBody>
          <a:bodyPr>
            <a:normAutofit/>
          </a:bodyPr>
          <a:lstStyle>
            <a:lvl1pPr>
              <a:defRPr sz="180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B7B22D00-115B-264C-C896-345894A04A0E}"/>
              </a:ext>
            </a:extLst>
          </p:cNvPr>
          <p:cNvPicPr>
            <a:picLocks/>
          </p:cNvPicPr>
          <p:nvPr/>
        </p:nvPicPr>
        <p:blipFill>
          <a:blip r:embed="rId2"/>
          <a:stretch>
            <a:fillRect/>
          </a:stretch>
        </p:blipFill>
        <p:spPr>
          <a:xfrm>
            <a:off x="-2" y="6466115"/>
            <a:ext cx="9153000" cy="108000"/>
          </a:xfrm>
          <a:prstGeom prst="rect">
            <a:avLst/>
          </a:prstGeom>
        </p:spPr>
      </p:pic>
      <p:pic>
        <p:nvPicPr>
          <p:cNvPr id="8" name="Picture 7">
            <a:extLst>
              <a:ext uri="{FF2B5EF4-FFF2-40B4-BE49-F238E27FC236}">
                <a16:creationId xmlns:a16="http://schemas.microsoft.com/office/drawing/2014/main" id="{DC5B671F-CF2E-7C44-EADA-4E56CCF35CC8}"/>
              </a:ext>
            </a:extLst>
          </p:cNvPr>
          <p:cNvPicPr>
            <a:picLocks noChangeAspect="1"/>
          </p:cNvPicPr>
          <p:nvPr/>
        </p:nvPicPr>
        <p:blipFill>
          <a:blip r:embed="rId3"/>
          <a:stretch>
            <a:fillRect/>
          </a:stretch>
        </p:blipFill>
        <p:spPr>
          <a:xfrm>
            <a:off x="-2" y="1295791"/>
            <a:ext cx="3348990" cy="103523"/>
          </a:xfrm>
          <a:prstGeom prst="rect">
            <a:avLst/>
          </a:prstGeom>
        </p:spPr>
      </p:pic>
      <p:pic>
        <p:nvPicPr>
          <p:cNvPr id="9" name="Picture 8">
            <a:extLst>
              <a:ext uri="{FF2B5EF4-FFF2-40B4-BE49-F238E27FC236}">
                <a16:creationId xmlns:a16="http://schemas.microsoft.com/office/drawing/2014/main" id="{39D85C2F-C4CC-B3E8-DC0D-F4312B489C3D}"/>
              </a:ext>
            </a:extLst>
          </p:cNvPr>
          <p:cNvPicPr>
            <a:picLocks noChangeAspect="1"/>
          </p:cNvPicPr>
          <p:nvPr/>
        </p:nvPicPr>
        <p:blipFill>
          <a:blip r:embed="rId4"/>
          <a:stretch>
            <a:fillRect/>
          </a:stretch>
        </p:blipFill>
        <p:spPr>
          <a:xfrm>
            <a:off x="7559040" y="405951"/>
            <a:ext cx="1333500" cy="679450"/>
          </a:xfrm>
          <a:prstGeom prst="rect">
            <a:avLst/>
          </a:prstGeom>
        </p:spPr>
      </p:pic>
    </p:spTree>
    <p:extLst>
      <p:ext uri="{BB962C8B-B14F-4D97-AF65-F5344CB8AC3E}">
        <p14:creationId xmlns:p14="http://schemas.microsoft.com/office/powerpoint/2010/main" val="1961042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68431-87F8-377B-002F-8008220780F5}"/>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CCB87CB-EC0D-AC03-913E-540103ABA3DD}"/>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B777A5-783A-D063-67E6-8CB761EE5353}"/>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a:extLst>
              <a:ext uri="{FF2B5EF4-FFF2-40B4-BE49-F238E27FC236}">
                <a16:creationId xmlns:a16="http://schemas.microsoft.com/office/drawing/2014/main" id="{02378A05-536D-01B1-B02E-017A1923F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4BE06D-95DC-C9AA-9F94-50F934BDD55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0290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72BEB-1201-DD36-5A62-6C8322CBC4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0EC01D-6BFB-5359-E1CB-F8393053EA1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1294D6-52BE-8815-B5BE-B9B642695724}"/>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ABC93A-F94E-2DCF-1576-F9D87AD02023}"/>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a:extLst>
              <a:ext uri="{FF2B5EF4-FFF2-40B4-BE49-F238E27FC236}">
                <a16:creationId xmlns:a16="http://schemas.microsoft.com/office/drawing/2014/main" id="{BE8D2396-B2FC-F8D4-BB47-05AFB0AB2D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562123-4901-0C6F-544E-F6AA6832F5D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4555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CA608-63E2-19B2-AE4D-57CF441C1B9A}"/>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FF64A4-C3C4-ACA3-1D1F-D208F767869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37ACB0F-31D6-4E31-9EF4-FAEE2ECF2D1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8E2D7D-E306-0374-7D3C-62E8D219AEE6}"/>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2BEC196-EF39-B64C-5B82-DC01BD71130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0B66E0-B7D7-BF74-CC5D-317C5567ED68}"/>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8" name="Footer Placeholder 7">
            <a:extLst>
              <a:ext uri="{FF2B5EF4-FFF2-40B4-BE49-F238E27FC236}">
                <a16:creationId xmlns:a16="http://schemas.microsoft.com/office/drawing/2014/main" id="{E8C2566B-2AE2-3440-B5E5-557FA335D5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C1E798-0C77-EC9C-37B4-4B7560BDB470}"/>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7993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68898-CA2D-FC1D-F85A-F4B614981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C0DC15-F701-899A-1878-CE763E825604}"/>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4" name="Footer Placeholder 3">
            <a:extLst>
              <a:ext uri="{FF2B5EF4-FFF2-40B4-BE49-F238E27FC236}">
                <a16:creationId xmlns:a16="http://schemas.microsoft.com/office/drawing/2014/main" id="{7092D74A-4601-E794-8FA7-BB76057027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B1FF0C-0D43-1690-F1D9-BD21A784635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2397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575516-D291-7DF6-999B-D95626683380}"/>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3" name="Footer Placeholder 2">
            <a:extLst>
              <a:ext uri="{FF2B5EF4-FFF2-40B4-BE49-F238E27FC236}">
                <a16:creationId xmlns:a16="http://schemas.microsoft.com/office/drawing/2014/main" id="{A66BCA8A-5542-72D5-4D01-7901049E96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6685FB-F8C4-60A1-F7B2-63C03C82483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819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04FAF-C8EA-6C50-C03C-6BE244FB333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3237747-0EAE-BF6C-0F71-1239CCED5C58}"/>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A81633-599E-0C57-85A4-85AF2FB3ED8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9CC1136-1C3C-B33A-D05E-2A6D49A0B74F}"/>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a:extLst>
              <a:ext uri="{FF2B5EF4-FFF2-40B4-BE49-F238E27FC236}">
                <a16:creationId xmlns:a16="http://schemas.microsoft.com/office/drawing/2014/main" id="{6ECF106D-088F-C9E1-A0D5-22F8B83BAE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7A12DD-DCE1-05C2-B9F7-010563020ED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94429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EF12A-BEE5-D30E-A3A1-942D5B5C0ED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12D5563-6459-67DE-4D69-30053A9D0AC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477B9A17-FD7C-16CA-4EFC-03BD86855F8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DC6D420-EC2E-8ABC-B2F2-CA9F497223B2}"/>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a:extLst>
              <a:ext uri="{FF2B5EF4-FFF2-40B4-BE49-F238E27FC236}">
                <a16:creationId xmlns:a16="http://schemas.microsoft.com/office/drawing/2014/main" id="{8DDA5612-CD5C-0B26-0604-34950D11F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7A36B-AF9A-508A-1438-B7C8B1597F8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742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C38F9-C26A-A887-8868-A89E5C7C28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923C57-B3EA-971D-87BC-DF8B8D3CA1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88FFD4-A931-751C-7707-99B41CCD90E2}"/>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a:extLst>
              <a:ext uri="{FF2B5EF4-FFF2-40B4-BE49-F238E27FC236}">
                <a16:creationId xmlns:a16="http://schemas.microsoft.com/office/drawing/2014/main" id="{1456FB5B-4974-F079-60B2-005270B274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2AA4EC-E107-73DE-0D25-2B1868B40DA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3274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B63CB0-1DDE-C006-45DD-C4E5E494296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815BB5-31FC-01A3-455F-2FCDAC103C1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94DB4B-80C3-F444-BB89-BAB7C213FDDE}"/>
              </a:ext>
            </a:extLst>
          </p:cNvPr>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a:extLst>
              <a:ext uri="{FF2B5EF4-FFF2-40B4-BE49-F238E27FC236}">
                <a16:creationId xmlns:a16="http://schemas.microsoft.com/office/drawing/2014/main" id="{9ABFC3CA-91F1-49B3-33BE-B13C2112E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99E0A-B830-F842-ADDC-5FD15C99353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09324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938481-3E3D-E956-CD00-8CB791685CE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8BA1C8-6503-E09A-694B-6C359C0BA89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A84468-691A-BB42-58A0-82A6AA10D1C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BCAD085-E8A6-8845-BD4E-CB4CCA059FC4}" type="datetimeFigureOut">
              <a:rPr lang="en-US" smtClean="0"/>
              <a:t>2/10/2026</a:t>
            </a:fld>
            <a:endParaRPr lang="en-US"/>
          </a:p>
        </p:txBody>
      </p:sp>
      <p:sp>
        <p:nvSpPr>
          <p:cNvPr id="5" name="Footer Placeholder 4">
            <a:extLst>
              <a:ext uri="{FF2B5EF4-FFF2-40B4-BE49-F238E27FC236}">
                <a16:creationId xmlns:a16="http://schemas.microsoft.com/office/drawing/2014/main" id="{305BE529-10D3-2454-82D4-495C91F7719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CC2B87-66F7-C8F0-A8BC-5A8446D4BBA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6319940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9806C-DE76-F844-DADC-8CEF0CA4E8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8DB0453-4AD2-5D01-DB88-163762890CF6}"/>
              </a:ext>
            </a:extLst>
          </p:cNvPr>
          <p:cNvPicPr>
            <a:picLocks noChangeAspect="1"/>
          </p:cNvPicPr>
          <p:nvPr/>
        </p:nvPicPr>
        <p:blipFill>
          <a:blip r:embed="rId2"/>
          <a:stretch>
            <a:fillRect/>
          </a:stretch>
        </p:blipFill>
        <p:spPr>
          <a:xfrm>
            <a:off x="594375" y="1743795"/>
            <a:ext cx="3290488" cy="1254499"/>
          </a:xfrm>
          <a:prstGeom prst="rect">
            <a:avLst/>
          </a:prstGeom>
        </p:spPr>
      </p:pic>
      <p:sp>
        <p:nvSpPr>
          <p:cNvPr id="2" name="Rectangle 1">
            <a:extLst>
              <a:ext uri="{FF2B5EF4-FFF2-40B4-BE49-F238E27FC236}">
                <a16:creationId xmlns:a16="http://schemas.microsoft.com/office/drawing/2014/main" id="{07AD43B1-8B94-26CD-2746-B4F4D815FE52}"/>
              </a:ext>
            </a:extLst>
          </p:cNvPr>
          <p:cNvSpPr/>
          <p:nvPr/>
        </p:nvSpPr>
        <p:spPr>
          <a:xfrm>
            <a:off x="4415831" y="1743795"/>
            <a:ext cx="45639" cy="1388569"/>
          </a:xfrm>
          <a:prstGeom prst="rect">
            <a:avLst/>
          </a:prstGeom>
          <a:solidFill>
            <a:srgbClr val="97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itle 1">
            <a:extLst>
              <a:ext uri="{FF2B5EF4-FFF2-40B4-BE49-F238E27FC236}">
                <a16:creationId xmlns:a16="http://schemas.microsoft.com/office/drawing/2014/main" id="{022B774B-E0DA-8EFA-E658-16AE37904B08}"/>
              </a:ext>
            </a:extLst>
          </p:cNvPr>
          <p:cNvSpPr txBox="1">
            <a:spLocks/>
          </p:cNvSpPr>
          <p:nvPr/>
        </p:nvSpPr>
        <p:spPr>
          <a:xfrm>
            <a:off x="1554480" y="2889504"/>
            <a:ext cx="5760720" cy="960120"/>
          </a:xfrm>
          <a:prstGeom prst="rect">
            <a:avLst/>
          </a:prstGeom>
        </p:spPr>
        <p:txBody>
          <a:bodyPr wrap="square"/>
          <a:lstStyle>
            <a:lvl1pPr algn="l" defTabSz="914400" rtl="0" eaLnBrk="1" latinLnBrk="0" hangingPunct="1">
              <a:lnSpc>
                <a:spcPct val="90000"/>
              </a:lnSpc>
              <a:spcBef>
                <a:spcPct val="0"/>
              </a:spcBef>
              <a:buNone/>
              <a:defRPr sz="4400" b="1" i="0" kern="1200">
                <a:solidFill>
                  <a:schemeClr val="tx1"/>
                </a:solidFill>
                <a:latin typeface="Arial Narrow" panose="020B0604020202020204" pitchFamily="34" charset="0"/>
                <a:ea typeface="+mj-ea"/>
                <a:cs typeface="Arial Narrow" panose="020B0604020202020204" pitchFamily="34" charset="0"/>
              </a:defRPr>
            </a:lvl1pPr>
          </a:lstStyle>
          <a:p>
            <a:r>
              <a:rPr lang="en-US" sz="2300" dirty="0">
                <a:solidFill>
                  <a:srgbClr val="9700FF"/>
                </a:solidFill>
              </a:rPr>
              <a:t>Vision-Based Lane Inference for Unstructured and Structured Indian Roads</a:t>
            </a:r>
          </a:p>
        </p:txBody>
      </p:sp>
      <p:sp>
        <p:nvSpPr>
          <p:cNvPr id="7" name="Content Placeholder 2">
            <a:extLst>
              <a:ext uri="{FF2B5EF4-FFF2-40B4-BE49-F238E27FC236}">
                <a16:creationId xmlns:a16="http://schemas.microsoft.com/office/drawing/2014/main" id="{67150D07-4CCE-759D-C6B1-03B0AE969E9D}"/>
              </a:ext>
            </a:extLst>
          </p:cNvPr>
          <p:cNvSpPr txBox="1">
            <a:spLocks/>
          </p:cNvSpPr>
          <p:nvPr/>
        </p:nvSpPr>
        <p:spPr>
          <a:xfrm>
            <a:off x="4695825" y="1775939"/>
            <a:ext cx="3520300" cy="7619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b="1" dirty="0">
                <a:solidFill>
                  <a:srgbClr val="9933FF"/>
                </a:solidFill>
                <a:latin typeface="Aptos" panose="020B0004020202020204" pitchFamily="34" charset="0"/>
              </a:rPr>
              <a:t>Presented by: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SemiBold" panose="020B0004020202020204" pitchFamily="34" charset="0"/>
                <a:ea typeface="+mn-ea"/>
                <a:cs typeface="+mn-cs"/>
              </a:rPr>
              <a:t>Harshwardhan Mukund Mohadikar  ·  Shreyas Bhat K</a:t>
            </a:r>
          </a:p>
        </p:txBody>
      </p:sp>
      <p:sp>
        <p:nvSpPr>
          <p:cNvPr id="6" name="Content Placeholder 2">
            <a:extLst>
              <a:ext uri="{FF2B5EF4-FFF2-40B4-BE49-F238E27FC236}">
                <a16:creationId xmlns:a16="http://schemas.microsoft.com/office/drawing/2014/main" id="{34C2E371-EB80-F24B-2B7E-C0C2DAFD6A88}"/>
              </a:ext>
            </a:extLst>
          </p:cNvPr>
          <p:cNvSpPr txBox="1">
            <a:spLocks/>
          </p:cNvSpPr>
          <p:nvPr/>
        </p:nvSpPr>
        <p:spPr>
          <a:xfrm>
            <a:off x="2655681" y="4821080"/>
            <a:ext cx="3520300" cy="7619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b="1" dirty="0">
                <a:latin typeface="Aptos" panose="020B0004020202020204" pitchFamily="34" charset="0"/>
              </a:rPr>
              <a:t>Under the guidance of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prstClr val="black"/>
                </a:solidFill>
                <a:latin typeface="Aptos SemiBold" panose="020B0004020202020204" pitchFamily="34" charset="0"/>
              </a:rPr>
              <a:t>Dr. Ashok Yemineni</a:t>
            </a:r>
            <a:endParaRPr kumimoji="0" lang="en-US" sz="1800" b="1" i="0" u="none" strike="noStrike" kern="1200" cap="none" spc="0" normalizeH="0" baseline="0" noProof="0" dirty="0">
              <a:ln>
                <a:noFill/>
              </a:ln>
              <a:solidFill>
                <a:prstClr val="black"/>
              </a:solidFill>
              <a:effectLst/>
              <a:uLnTx/>
              <a:uFillTx/>
              <a:latin typeface="Aptos SemiBold" panose="020B0004020202020204" pitchFamily="34" charset="0"/>
              <a:ea typeface="+mn-ea"/>
              <a:cs typeface="+mn-cs"/>
            </a:endParaRPr>
          </a:p>
        </p:txBody>
      </p:sp>
      <p:sp>
        <p:nvSpPr>
          <p:cNvPr id="8" name="Content Placeholder 2">
            <a:extLst>
              <a:ext uri="{FF2B5EF4-FFF2-40B4-BE49-F238E27FC236}">
                <a16:creationId xmlns:a16="http://schemas.microsoft.com/office/drawing/2014/main" id="{3AB134D2-B9AA-E395-01BF-48B58E2DB43F}"/>
              </a:ext>
            </a:extLst>
          </p:cNvPr>
          <p:cNvSpPr txBox="1">
            <a:spLocks/>
          </p:cNvSpPr>
          <p:nvPr/>
        </p:nvSpPr>
        <p:spPr>
          <a:xfrm>
            <a:off x="2194560" y="3923234"/>
            <a:ext cx="4206240" cy="35389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prstClr val="black"/>
                </a:solidFill>
                <a:latin typeface="Aptos SemiBold" panose="020B0004020202020204" pitchFamily="34" charset="0"/>
              </a:rPr>
              <a:t>BSc Computer Science  ·  2025-26</a:t>
            </a:r>
            <a:endParaRPr kumimoji="0" lang="en-US" sz="1800" b="1" i="0" u="none" strike="noStrike" kern="1200" cap="none" spc="0" normalizeH="0" baseline="0" noProof="0" dirty="0">
              <a:ln>
                <a:noFill/>
              </a:ln>
              <a:solidFill>
                <a:prstClr val="black"/>
              </a:solidFill>
              <a:effectLst/>
              <a:uLnTx/>
              <a:uFillTx/>
              <a:latin typeface="Aptos SemiBold" panose="020B0004020202020204" pitchFamily="34" charset="0"/>
              <a:ea typeface="+mn-ea"/>
              <a:cs typeface="+mn-cs"/>
            </a:endParaRPr>
          </a:p>
        </p:txBody>
      </p:sp>
    </p:spTree>
    <p:extLst>
      <p:ext uri="{BB962C8B-B14F-4D97-AF65-F5344CB8AC3E}">
        <p14:creationId xmlns:p14="http://schemas.microsoft.com/office/powerpoint/2010/main" val="283514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Problem Statement</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Lane detection assumes paint. Most of the Indian network has none.</a:t>
            </a:r>
          </a:p>
        </p:txBody>
      </p:sp>
      <p:sp>
        <p:nvSpPr>
          <p:cNvPr id="4" name="Rounded Rectangle 3"/>
          <p:cNvSpPr/>
          <p:nvPr/>
        </p:nvSpPr>
        <p:spPr>
          <a:xfrm>
            <a:off x="475488" y="1554480"/>
            <a:ext cx="4041648" cy="22402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What every method assumes</a:t>
            </a:r>
          </a:p>
          <a:p>
            <a:pPr>
              <a:spcAft>
                <a:spcPts val="800"/>
              </a:spcAft>
            </a:pPr>
            <a:r>
              <a:rPr sz="850" b="1">
                <a:solidFill>
                  <a:srgbClr val="1668C0"/>
                </a:solidFill>
                <a:latin typeface="Aptos"/>
              </a:rPr>
              <a:t>THE SHARED PREMISE</a:t>
            </a:r>
          </a:p>
          <a:p>
            <a:pPr>
              <a:spcAft>
                <a:spcPts val="600"/>
              </a:spcAft>
            </a:pPr>
            <a:r>
              <a:rPr sz="1100">
                <a:solidFill>
                  <a:srgbClr val="55606B"/>
                </a:solidFill>
                <a:latin typeface="Aptos"/>
              </a:rPr>
              <a:t>▪  Painted lane markings are present in the frame</a:t>
            </a:r>
          </a:p>
          <a:p>
            <a:pPr>
              <a:spcAft>
                <a:spcPts val="600"/>
              </a:spcAft>
            </a:pPr>
            <a:r>
              <a:rPr sz="1100">
                <a:solidFill>
                  <a:srgbClr val="55606B"/>
                </a:solidFill>
                <a:latin typeface="Aptos"/>
              </a:rPr>
              <a:t>▪  Trained and evaluated on TuSimple, CULane, BDD100K</a:t>
            </a:r>
          </a:p>
          <a:p>
            <a:pPr>
              <a:spcAft>
                <a:spcPts val="600"/>
              </a:spcAft>
            </a:pPr>
            <a:r>
              <a:rPr sz="1100">
                <a:solidFill>
                  <a:srgbClr val="55606B"/>
                </a:solidFill>
                <a:latin typeface="Aptos"/>
              </a:rPr>
              <a:t>▪  All of them marked highways and marked cities</a:t>
            </a:r>
          </a:p>
        </p:txBody>
      </p:sp>
      <p:sp>
        <p:nvSpPr>
          <p:cNvPr id="5" name="Rectangle 4"/>
          <p:cNvSpPr/>
          <p:nvPr/>
        </p:nvSpPr>
        <p:spPr>
          <a:xfrm>
            <a:off x="475488" y="1572768"/>
            <a:ext cx="68580" cy="220370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63440" y="1554480"/>
            <a:ext cx="4041648" cy="22402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What Indian roads give you</a:t>
            </a:r>
          </a:p>
          <a:p>
            <a:pPr>
              <a:spcAft>
                <a:spcPts val="800"/>
              </a:spcAft>
            </a:pPr>
            <a:r>
              <a:rPr sz="850" b="1">
                <a:solidFill>
                  <a:srgbClr val="1668C0"/>
                </a:solidFill>
                <a:latin typeface="Aptos"/>
              </a:rPr>
              <a:t>THE ACTUAL INPUT</a:t>
            </a:r>
          </a:p>
          <a:p>
            <a:pPr>
              <a:spcAft>
                <a:spcPts val="600"/>
              </a:spcAft>
            </a:pPr>
            <a:r>
              <a:rPr sz="1100">
                <a:solidFill>
                  <a:srgbClr val="55606B"/>
                </a:solidFill>
                <a:latin typeface="Aptos"/>
              </a:rPr>
              <a:t>▪  Paint is absent, worn, or hidden under traffic</a:t>
            </a:r>
          </a:p>
          <a:p>
            <a:pPr>
              <a:spcAft>
                <a:spcPts val="600"/>
              </a:spcAft>
            </a:pPr>
            <a:r>
              <a:rPr sz="1100">
                <a:solidFill>
                  <a:srgbClr val="55606B"/>
                </a:solidFill>
                <a:latin typeface="Aptos"/>
              </a:rPr>
              <a:t>▪  Yet the road still carries a structure drivers agree on</a:t>
            </a:r>
          </a:p>
          <a:p>
            <a:pPr>
              <a:spcAft>
                <a:spcPts val="600"/>
              </a:spcAft>
            </a:pPr>
            <a:r>
              <a:rPr sz="1100">
                <a:solidFill>
                  <a:srgbClr val="55606B"/>
                </a:solidFill>
                <a:latin typeface="Aptos"/>
              </a:rPr>
              <a:t>▪  The information is in the geometry, not the markings</a:t>
            </a:r>
          </a:p>
        </p:txBody>
      </p:sp>
      <p:sp>
        <p:nvSpPr>
          <p:cNvPr id="7" name="Rectangle 6"/>
          <p:cNvSpPr/>
          <p:nvPr/>
        </p:nvSpPr>
        <p:spPr>
          <a:xfrm>
            <a:off x="4663440" y="1572768"/>
            <a:ext cx="68580" cy="220370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75488" y="3950208"/>
            <a:ext cx="8229600" cy="141732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And the failure is silent</a:t>
            </a:r>
          </a:p>
          <a:p>
            <a:pPr>
              <a:spcAft>
                <a:spcPts val="500"/>
              </a:spcAft>
            </a:pPr>
            <a:r>
              <a:rPr sz="1150">
                <a:solidFill>
                  <a:srgbClr val="D8E0EC"/>
                </a:solidFill>
                <a:latin typeface="Aptos"/>
              </a:rPr>
              <a:t>A detector that finds nothing looks exactly like one that failed. Nothing downstream can tell the two apart, so the roads where lane information would help most are the ones that get none.</a:t>
            </a:r>
          </a:p>
          <a:p>
            <a:pPr>
              <a:spcAft>
                <a:spcPts val="500"/>
              </a:spcAft>
            </a:pPr>
            <a:r>
              <a:rPr sz="1150">
                <a:solidFill>
                  <a:srgbClr val="D8E0EC"/>
                </a:solidFill>
                <a:latin typeface="Aptos"/>
              </a:rPr>
              <a:t>That is why this project infers structure instead of detecting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Objectives &amp; Scope</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Rebuild the pipeline so every claim it makes can be measured.</a:t>
            </a:r>
          </a:p>
        </p:txBody>
      </p:sp>
      <p:sp>
        <p:nvSpPr>
          <p:cNvPr id="4" name="Rounded Rectangle 3"/>
          <p:cNvSpPr/>
          <p:nvPr/>
        </p:nvSpPr>
        <p:spPr>
          <a:xfrm>
            <a:off x="475488" y="1554480"/>
            <a:ext cx="4041648" cy="28346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Objectives</a:t>
            </a:r>
          </a:p>
          <a:p>
            <a:pPr>
              <a:spcAft>
                <a:spcPts val="800"/>
              </a:spcAft>
            </a:pPr>
            <a:r>
              <a:rPr sz="850" b="1">
                <a:solidFill>
                  <a:srgbClr val="1668C0"/>
                </a:solidFill>
                <a:latin typeface="Aptos"/>
              </a:rPr>
              <a:t>WHAT TO BUILD</a:t>
            </a:r>
          </a:p>
          <a:p>
            <a:pPr>
              <a:spcAft>
                <a:spcPts val="600"/>
              </a:spcAft>
            </a:pPr>
            <a:r>
              <a:rPr sz="1100">
                <a:solidFill>
                  <a:srgbClr val="55606B"/>
                </a:solidFill>
                <a:latin typeface="Aptos"/>
              </a:rPr>
              <a:t>▪  Train a segmentation network on Indian road imagery</a:t>
            </a:r>
          </a:p>
          <a:p>
            <a:pPr>
              <a:spcAft>
                <a:spcPts val="600"/>
              </a:spcAft>
            </a:pPr>
            <a:r>
              <a:rPr sz="1100">
                <a:solidFill>
                  <a:srgbClr val="55606B"/>
                </a:solidFill>
                <a:latin typeface="Aptos"/>
              </a:rPr>
              <a:t>▪  Recover metric geometry with pitch measured, not assumed</a:t>
            </a:r>
          </a:p>
          <a:p>
            <a:pPr>
              <a:spcAft>
                <a:spcPts val="600"/>
              </a:spcAft>
            </a:pPr>
            <a:r>
              <a:rPr sz="1100">
                <a:solidFill>
                  <a:srgbClr val="55606B"/>
                </a:solidFill>
                <a:latin typeface="Aptos"/>
              </a:rPr>
              <a:t>▪  Infer a lane count from measured width and a design standard</a:t>
            </a:r>
          </a:p>
          <a:p>
            <a:pPr>
              <a:spcAft>
                <a:spcPts val="600"/>
              </a:spcAft>
            </a:pPr>
            <a:r>
              <a:rPr sz="1100">
                <a:solidFill>
                  <a:srgbClr val="55606B"/>
                </a:solidFill>
                <a:latin typeface="Aptos"/>
              </a:rPr>
              <a:t>▪  Report a confidence that predicts error</a:t>
            </a:r>
          </a:p>
          <a:p>
            <a:pPr>
              <a:spcAft>
                <a:spcPts val="600"/>
              </a:spcAft>
            </a:pPr>
            <a:r>
              <a:rPr sz="1100">
                <a:solidFill>
                  <a:srgbClr val="55606B"/>
                </a:solidFill>
                <a:latin typeface="Aptos"/>
              </a:rPr>
              <a:t>▪  Measure against baselines, including trivial ones</a:t>
            </a:r>
          </a:p>
        </p:txBody>
      </p:sp>
      <p:sp>
        <p:nvSpPr>
          <p:cNvPr id="5" name="Rectangle 4"/>
          <p:cNvSpPr/>
          <p:nvPr/>
        </p:nvSpPr>
        <p:spPr>
          <a:xfrm>
            <a:off x="475488" y="1572768"/>
            <a:ext cx="68580" cy="279806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63440" y="1554480"/>
            <a:ext cx="4041648" cy="28346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Scope</a:t>
            </a:r>
          </a:p>
          <a:p>
            <a:pPr>
              <a:spcAft>
                <a:spcPts val="800"/>
              </a:spcAft>
            </a:pPr>
            <a:r>
              <a:rPr sz="850" b="1">
                <a:solidFill>
                  <a:srgbClr val="1668C0"/>
                </a:solidFill>
                <a:latin typeface="Aptos"/>
              </a:rPr>
              <a:t>BOUNDARIES</a:t>
            </a:r>
          </a:p>
          <a:p>
            <a:pPr>
              <a:spcAft>
                <a:spcPts val="600"/>
              </a:spcAft>
            </a:pPr>
            <a:r>
              <a:rPr sz="1100">
                <a:solidFill>
                  <a:srgbClr val="55606B"/>
                </a:solidFill>
                <a:latin typeface="Aptos"/>
              </a:rPr>
              <a:t>▪  In: monocular forward-facing camera</a:t>
            </a:r>
          </a:p>
          <a:p>
            <a:pPr>
              <a:spcAft>
                <a:spcPts val="600"/>
              </a:spcAft>
            </a:pPr>
            <a:r>
              <a:rPr sz="1100">
                <a:solidFill>
                  <a:srgbClr val="55606B"/>
                </a:solidFill>
                <a:latin typeface="Aptos"/>
              </a:rPr>
              <a:t>▪  In: single image, video clip, live camera</a:t>
            </a:r>
          </a:p>
          <a:p>
            <a:pPr>
              <a:spcAft>
                <a:spcPts val="600"/>
              </a:spcAft>
            </a:pPr>
            <a:r>
              <a:rPr sz="1100">
                <a:solidFill>
                  <a:srgbClr val="55606B"/>
                </a:solidFill>
                <a:latin typeface="Aptos"/>
              </a:rPr>
              <a:t>▪  In: lane count and metric widths, both validated</a:t>
            </a:r>
          </a:p>
          <a:p>
            <a:pPr>
              <a:spcAft>
                <a:spcPts val="600"/>
              </a:spcAft>
            </a:pPr>
            <a:r>
              <a:rPr sz="1100">
                <a:solidFill>
                  <a:srgbClr val="55606B"/>
                </a:solidFill>
                <a:latin typeface="Aptos"/>
              </a:rPr>
              <a:t>▪  Also reported, not validated: ego lane, road-user distances</a:t>
            </a:r>
          </a:p>
          <a:p>
            <a:pPr>
              <a:spcAft>
                <a:spcPts val="600"/>
              </a:spcAft>
            </a:pPr>
            <a:r>
              <a:rPr sz="1100">
                <a:solidFill>
                  <a:srgbClr val="55606B"/>
                </a:solidFill>
                <a:latin typeface="Aptos"/>
              </a:rPr>
              <a:t>▪  Out: path planning and vehicle control</a:t>
            </a:r>
          </a:p>
          <a:p>
            <a:pPr>
              <a:spcAft>
                <a:spcPts val="600"/>
              </a:spcAft>
            </a:pPr>
            <a:r>
              <a:rPr sz="1100">
                <a:solidFill>
                  <a:srgbClr val="55606B"/>
                </a:solidFill>
                <a:latin typeface="Aptos"/>
              </a:rPr>
              <a:t>▪  Out: any sensor other than the camera</a:t>
            </a:r>
          </a:p>
          <a:p>
            <a:pPr>
              <a:spcAft>
                <a:spcPts val="600"/>
              </a:spcAft>
            </a:pPr>
            <a:r>
              <a:rPr sz="1100">
                <a:solidFill>
                  <a:srgbClr val="55606B"/>
                </a:solidFill>
                <a:latin typeface="Aptos"/>
              </a:rPr>
              <a:t>▪  Out: night and heavy rain</a:t>
            </a:r>
          </a:p>
        </p:txBody>
      </p:sp>
      <p:sp>
        <p:nvSpPr>
          <p:cNvPr id="7" name="Rectangle 6"/>
          <p:cNvSpPr/>
          <p:nvPr/>
        </p:nvSpPr>
        <p:spPr>
          <a:xfrm>
            <a:off x="4663440" y="1572768"/>
            <a:ext cx="68580" cy="279806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75488" y="4544568"/>
            <a:ext cx="8229600" cy="1097280"/>
          </a:xfrm>
          <a:prstGeom prst="roundRect">
            <a:avLst>
              <a:gd name="adj" fmla="val 5000"/>
            </a:avLst>
          </a:prstGeom>
          <a:solidFill>
            <a:srgbClr val="F4F6FA"/>
          </a:solidFill>
          <a:ln w="762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663440"/>
            <a:ext cx="7863840" cy="201168"/>
          </a:xfrm>
          <a:prstGeom prst="rect">
            <a:avLst/>
          </a:prstGeom>
          <a:noFill/>
        </p:spPr>
        <p:txBody>
          <a:bodyPr wrap="none" lIns="0" tIns="0" bIns="0">
            <a:spAutoFit/>
          </a:bodyPr>
          <a:lstStyle/>
          <a:p>
            <a:r>
              <a:rPr sz="850" b="1">
                <a:solidFill>
                  <a:srgbClr val="6E6E6E"/>
                </a:solidFill>
                <a:latin typeface="Aptos"/>
              </a:rPr>
              <a:t>METHODS THIS RESTS ON</a:t>
            </a:r>
          </a:p>
        </p:txBody>
      </p:sp>
      <p:sp>
        <p:nvSpPr>
          <p:cNvPr id="10" name="Rounded Rectangle 9"/>
          <p:cNvSpPr/>
          <p:nvPr/>
        </p:nvSpPr>
        <p:spPr>
          <a:xfrm>
            <a:off x="658368" y="4928616"/>
            <a:ext cx="109270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MobileNetV3</a:t>
            </a:r>
          </a:p>
        </p:txBody>
      </p:sp>
      <p:sp>
        <p:nvSpPr>
          <p:cNvPr id="11" name="Rounded Rectangle 10"/>
          <p:cNvSpPr/>
          <p:nvPr/>
        </p:nvSpPr>
        <p:spPr>
          <a:xfrm>
            <a:off x="1833372" y="4928616"/>
            <a:ext cx="78181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LR-ASPP</a:t>
            </a:r>
          </a:p>
        </p:txBody>
      </p:sp>
      <p:sp>
        <p:nvSpPr>
          <p:cNvPr id="12" name="Rounded Rectangle 11"/>
          <p:cNvSpPr/>
          <p:nvPr/>
        </p:nvSpPr>
        <p:spPr>
          <a:xfrm>
            <a:off x="2697480" y="4928616"/>
            <a:ext cx="47091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FPN</a:t>
            </a:r>
          </a:p>
        </p:txBody>
      </p:sp>
      <p:sp>
        <p:nvSpPr>
          <p:cNvPr id="13" name="Rounded Rectangle 12"/>
          <p:cNvSpPr/>
          <p:nvPr/>
        </p:nvSpPr>
        <p:spPr>
          <a:xfrm>
            <a:off x="3250692" y="4928616"/>
            <a:ext cx="47091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IPM</a:t>
            </a:r>
          </a:p>
        </p:txBody>
      </p:sp>
      <p:sp>
        <p:nvSpPr>
          <p:cNvPr id="14" name="Rounded Rectangle 13"/>
          <p:cNvSpPr/>
          <p:nvPr/>
        </p:nvSpPr>
        <p:spPr>
          <a:xfrm>
            <a:off x="3803904" y="4928616"/>
            <a:ext cx="124815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Kalman filter</a:t>
            </a:r>
          </a:p>
        </p:txBody>
      </p:sp>
      <p:sp>
        <p:nvSpPr>
          <p:cNvPr id="15" name="Rounded Rectangle 14"/>
          <p:cNvSpPr/>
          <p:nvPr/>
        </p:nvSpPr>
        <p:spPr>
          <a:xfrm>
            <a:off x="5134356" y="4928616"/>
            <a:ext cx="70408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IRC:86</a:t>
            </a:r>
          </a:p>
        </p:txBody>
      </p:sp>
      <p:sp>
        <p:nvSpPr>
          <p:cNvPr id="16" name="Rounded Rectangle 15"/>
          <p:cNvSpPr/>
          <p:nvPr/>
        </p:nvSpPr>
        <p:spPr>
          <a:xfrm>
            <a:off x="5920740" y="4928616"/>
            <a:ext cx="194767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Knowledge distillation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Existing Work</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Mature field, built on an assumption this project cannot make.</a:t>
            </a:r>
          </a:p>
        </p:txBody>
      </p:sp>
      <p:sp>
        <p:nvSpPr>
          <p:cNvPr id="4" name="Rounded Rectangle 3"/>
          <p:cNvSpPr/>
          <p:nvPr/>
        </p:nvSpPr>
        <p:spPr>
          <a:xfrm>
            <a:off x="475488" y="1554480"/>
            <a:ext cx="2645664" cy="17830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Segmentation</a:t>
            </a:r>
          </a:p>
          <a:p>
            <a:pPr>
              <a:spcAft>
                <a:spcPts val="800"/>
              </a:spcAft>
            </a:pPr>
            <a:r>
              <a:rPr sz="850" b="1">
                <a:solidFill>
                  <a:srgbClr val="1668C0"/>
                </a:solidFill>
                <a:latin typeface="Aptos"/>
              </a:rPr>
              <a:t>SCNN · LANENET</a:t>
            </a:r>
          </a:p>
          <a:p>
            <a:pPr>
              <a:spcAft>
                <a:spcPts val="600"/>
              </a:spcAft>
            </a:pPr>
            <a:r>
              <a:rPr sz="1100">
                <a:solidFill>
                  <a:srgbClr val="55606B"/>
                </a:solidFill>
                <a:latin typeface="Aptos"/>
              </a:rPr>
              <a:t>▪  Label marking pixels, then cluster them into lane instances</a:t>
            </a:r>
          </a:p>
        </p:txBody>
      </p:sp>
      <p:sp>
        <p:nvSpPr>
          <p:cNvPr id="5" name="Rectangle 4"/>
          <p:cNvSpPr/>
          <p:nvPr/>
        </p:nvSpPr>
        <p:spPr>
          <a:xfrm>
            <a:off x="475488" y="1572768"/>
            <a:ext cx="68580" cy="174650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67456" y="1554480"/>
            <a:ext cx="2645664" cy="17830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Row anchor</a:t>
            </a:r>
          </a:p>
          <a:p>
            <a:pPr>
              <a:spcAft>
                <a:spcPts val="800"/>
              </a:spcAft>
            </a:pPr>
            <a:r>
              <a:rPr sz="850" b="1">
                <a:solidFill>
                  <a:srgbClr val="1668C0"/>
                </a:solidFill>
                <a:latin typeface="Aptos"/>
              </a:rPr>
              <a:t>ULTRA FAST LDD</a:t>
            </a:r>
          </a:p>
          <a:p>
            <a:pPr>
              <a:spcAft>
                <a:spcPts val="600"/>
              </a:spcAft>
            </a:pPr>
            <a:r>
              <a:rPr sz="1100">
                <a:solidFill>
                  <a:srgbClr val="55606B"/>
                </a:solidFill>
                <a:latin typeface="Aptos"/>
              </a:rPr>
              <a:t>▪  Select which cell in each image row holds a marking</a:t>
            </a:r>
          </a:p>
        </p:txBody>
      </p:sp>
      <p:sp>
        <p:nvSpPr>
          <p:cNvPr id="7" name="Rectangle 6"/>
          <p:cNvSpPr/>
          <p:nvPr/>
        </p:nvSpPr>
        <p:spPr>
          <a:xfrm>
            <a:off x="3267456" y="1572768"/>
            <a:ext cx="68580" cy="174650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59424" y="1554480"/>
            <a:ext cx="2645664" cy="17830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Parametric</a:t>
            </a:r>
          </a:p>
          <a:p>
            <a:pPr>
              <a:spcAft>
                <a:spcPts val="800"/>
              </a:spcAft>
            </a:pPr>
            <a:r>
              <a:rPr sz="850" b="1">
                <a:solidFill>
                  <a:srgbClr val="1668C0"/>
                </a:solidFill>
                <a:latin typeface="Aptos"/>
              </a:rPr>
              <a:t>POLYLANENET · CLRNET</a:t>
            </a:r>
          </a:p>
          <a:p>
            <a:pPr>
              <a:spcAft>
                <a:spcPts val="600"/>
              </a:spcAft>
            </a:pPr>
            <a:r>
              <a:rPr sz="1100">
                <a:solidFill>
                  <a:srgbClr val="55606B"/>
                </a:solidFill>
                <a:latin typeface="Aptos"/>
              </a:rPr>
              <a:t>▪  Regress lane curves directly from features</a:t>
            </a:r>
          </a:p>
        </p:txBody>
      </p:sp>
      <p:sp>
        <p:nvSpPr>
          <p:cNvPr id="9" name="Rectangle 8"/>
          <p:cNvSpPr/>
          <p:nvPr/>
        </p:nvSpPr>
        <p:spPr>
          <a:xfrm>
            <a:off x="6059424" y="1572768"/>
            <a:ext cx="68580" cy="174650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5488" y="3493008"/>
            <a:ext cx="5074920" cy="178308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The limitation they share</a:t>
            </a:r>
          </a:p>
          <a:p>
            <a:pPr>
              <a:spcAft>
                <a:spcPts val="500"/>
              </a:spcAft>
            </a:pPr>
            <a:r>
              <a:rPr sz="1150">
                <a:solidFill>
                  <a:srgbClr val="D8E0EC"/>
                </a:solidFill>
                <a:latin typeface="Aptos"/>
              </a:rPr>
              <a:t>Each assumes markings exist. On an unmarked road the output is empty or arbitrary, and nothing in the formulation distinguishes the two.</a:t>
            </a:r>
          </a:p>
        </p:txBody>
      </p:sp>
      <p:sp>
        <p:nvSpPr>
          <p:cNvPr id="11" name="Rounded Rectangle 10"/>
          <p:cNvSpPr/>
          <p:nvPr/>
        </p:nvSpPr>
        <p:spPr>
          <a:xfrm>
            <a:off x="5715000" y="3493008"/>
            <a:ext cx="2990088" cy="17830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Why IDD cannot fix it</a:t>
            </a:r>
          </a:p>
          <a:p>
            <a:pPr>
              <a:spcAft>
                <a:spcPts val="800"/>
              </a:spcAft>
            </a:pPr>
            <a:r>
              <a:rPr sz="850" b="1">
                <a:solidFill>
                  <a:srgbClr val="1668C0"/>
                </a:solidFill>
                <a:latin typeface="Aptos"/>
              </a:rPr>
              <a:t>NO LANE GROUND TRUTH</a:t>
            </a:r>
          </a:p>
          <a:p>
            <a:pPr>
              <a:spcAft>
                <a:spcPts val="600"/>
              </a:spcAft>
            </a:pPr>
            <a:r>
              <a:rPr sz="1100">
                <a:solidFill>
                  <a:srgbClr val="55606B"/>
                </a:solidFill>
                <a:latin typeface="Aptos"/>
              </a:rPr>
              <a:t>▪  IDD annotates drivable surface, not lanes</a:t>
            </a:r>
          </a:p>
          <a:p>
            <a:pPr>
              <a:spcAft>
                <a:spcPts val="600"/>
              </a:spcAft>
            </a:pPr>
            <a:r>
              <a:rPr sz="1100">
                <a:solidFill>
                  <a:srgbClr val="55606B"/>
                </a:solidFill>
                <a:latin typeface="Aptos"/>
              </a:rPr>
              <a:t>▪  An unmarked road has no lane to annotate</a:t>
            </a:r>
          </a:p>
          <a:p>
            <a:pPr>
              <a:spcAft>
                <a:spcPts val="600"/>
              </a:spcAft>
            </a:pPr>
            <a:r>
              <a:rPr sz="1100">
                <a:solidFill>
                  <a:srgbClr val="55606B"/>
                </a:solidFill>
                <a:latin typeface="Aptos"/>
              </a:rPr>
              <a:t>▪  So structure has to be inferred, not learned</a:t>
            </a:r>
          </a:p>
        </p:txBody>
      </p:sp>
      <p:sp>
        <p:nvSpPr>
          <p:cNvPr id="12" name="Rectangle 11"/>
          <p:cNvSpPr/>
          <p:nvPr/>
        </p:nvSpPr>
        <p:spPr>
          <a:xfrm>
            <a:off x="5715000" y="3511296"/>
            <a:ext cx="68580" cy="174650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System Design</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Four tiers, one API surface, and one piece of state that matters.</a:t>
            </a:r>
          </a:p>
        </p:txBody>
      </p:sp>
      <p:sp>
        <p:nvSpPr>
          <p:cNvPr id="4" name="Rounded Rectangle 3"/>
          <p:cNvSpPr/>
          <p:nvPr/>
        </p:nvSpPr>
        <p:spPr>
          <a:xfrm>
            <a:off x="475488" y="1554480"/>
            <a:ext cx="1947672" cy="148132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Client</a:t>
            </a:r>
          </a:p>
          <a:p>
            <a:pPr>
              <a:spcAft>
                <a:spcPts val="800"/>
              </a:spcAft>
            </a:pPr>
            <a:r>
              <a:rPr sz="850" b="1">
                <a:solidFill>
                  <a:srgbClr val="1668C0"/>
                </a:solidFill>
                <a:latin typeface="Aptos"/>
              </a:rPr>
              <a:t>BROWSER AND CAMERA</a:t>
            </a:r>
          </a:p>
          <a:p>
            <a:pPr>
              <a:spcAft>
                <a:spcPts val="600"/>
              </a:spcAft>
            </a:pPr>
            <a:r>
              <a:rPr sz="1100">
                <a:solidFill>
                  <a:srgbClr val="55606B"/>
                </a:solidFill>
                <a:latin typeface="Aptos"/>
              </a:rPr>
              <a:t>▪  React interface, mobile camera, file upload</a:t>
            </a:r>
          </a:p>
        </p:txBody>
      </p:sp>
      <p:sp>
        <p:nvSpPr>
          <p:cNvPr id="5" name="Rectangle 4"/>
          <p:cNvSpPr/>
          <p:nvPr/>
        </p:nvSpPr>
        <p:spPr>
          <a:xfrm>
            <a:off x="475488" y="1572768"/>
            <a:ext cx="68580" cy="1444752"/>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69464" y="1554480"/>
            <a:ext cx="1947672" cy="148132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Server</a:t>
            </a:r>
          </a:p>
          <a:p>
            <a:pPr>
              <a:spcAft>
                <a:spcPts val="800"/>
              </a:spcAft>
            </a:pPr>
            <a:r>
              <a:rPr sz="850" b="1">
                <a:solidFill>
                  <a:srgbClr val="1668C0"/>
                </a:solidFill>
                <a:latin typeface="Aptos"/>
              </a:rPr>
              <a:t>FASTAPI</a:t>
            </a:r>
          </a:p>
          <a:p>
            <a:pPr>
              <a:spcAft>
                <a:spcPts val="600"/>
              </a:spcAft>
            </a:pPr>
            <a:r>
              <a:rPr sz="1100">
                <a:solidFill>
                  <a:srgbClr val="55606B"/>
                </a:solidFill>
                <a:latin typeface="Aptos"/>
              </a:rPr>
              <a:t>▪  Eleven endpoints. Every request enters the same way</a:t>
            </a:r>
          </a:p>
        </p:txBody>
      </p:sp>
      <p:sp>
        <p:nvSpPr>
          <p:cNvPr id="7" name="Rectangle 6"/>
          <p:cNvSpPr/>
          <p:nvPr/>
        </p:nvSpPr>
        <p:spPr>
          <a:xfrm>
            <a:off x="2569464" y="1572768"/>
            <a:ext cx="68580" cy="144475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554480"/>
            <a:ext cx="1947672" cy="148132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Inference</a:t>
            </a:r>
          </a:p>
          <a:p>
            <a:pPr>
              <a:spcAft>
                <a:spcPts val="800"/>
              </a:spcAft>
            </a:pPr>
            <a:r>
              <a:rPr sz="850" b="1">
                <a:solidFill>
                  <a:srgbClr val="1668C0"/>
                </a:solidFill>
                <a:latin typeface="Aptos"/>
              </a:rPr>
              <a:t>STATELESS MODULES</a:t>
            </a:r>
          </a:p>
          <a:p>
            <a:pPr>
              <a:spcAft>
                <a:spcPts val="600"/>
              </a:spcAft>
            </a:pPr>
            <a:r>
              <a:rPr sz="1100">
                <a:solidFill>
                  <a:srgbClr val="55606B"/>
                </a:solidFill>
                <a:latin typeface="Aptos"/>
              </a:rPr>
              <a:t>▪  Segmentation, geometry, temporal tracker</a:t>
            </a:r>
          </a:p>
        </p:txBody>
      </p:sp>
      <p:sp>
        <p:nvSpPr>
          <p:cNvPr id="9" name="Rectangle 8"/>
          <p:cNvSpPr/>
          <p:nvPr/>
        </p:nvSpPr>
        <p:spPr>
          <a:xfrm>
            <a:off x="4663440" y="1572768"/>
            <a:ext cx="68580" cy="1444752"/>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57416" y="1554480"/>
            <a:ext cx="1947672" cy="148132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Storage</a:t>
            </a:r>
          </a:p>
          <a:p>
            <a:pPr>
              <a:spcAft>
                <a:spcPts val="800"/>
              </a:spcAft>
            </a:pPr>
            <a:r>
              <a:rPr sz="850" b="1">
                <a:solidFill>
                  <a:srgbClr val="1668C0"/>
                </a:solidFill>
                <a:latin typeface="Aptos"/>
              </a:rPr>
              <a:t>READ ONLY</a:t>
            </a:r>
          </a:p>
          <a:p>
            <a:pPr>
              <a:spcAft>
                <a:spcPts val="600"/>
              </a:spcAft>
            </a:pPr>
            <a:r>
              <a:rPr sz="1100">
                <a:solidFill>
                  <a:srgbClr val="55606B"/>
                </a:solidFill>
                <a:latin typeface="Aptos"/>
              </a:rPr>
              <a:t>▪  Weights, sample data, measured results</a:t>
            </a:r>
          </a:p>
        </p:txBody>
      </p:sp>
      <p:sp>
        <p:nvSpPr>
          <p:cNvPr id="11" name="Rectangle 10"/>
          <p:cNvSpPr/>
          <p:nvPr/>
        </p:nvSpPr>
        <p:spPr>
          <a:xfrm>
            <a:off x="6757416" y="1572768"/>
            <a:ext cx="68580" cy="144475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5488" y="3191256"/>
            <a:ext cx="8229600" cy="141732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The one piece of state, and what it costs</a:t>
            </a:r>
          </a:p>
          <a:p>
            <a:pPr>
              <a:spcAft>
                <a:spcPts val="500"/>
              </a:spcAft>
            </a:pPr>
            <a:r>
              <a:rPr sz="1150">
                <a:solidFill>
                  <a:srgbClr val="D8E0EC"/>
                </a:solidFill>
                <a:latin typeface="Aptos"/>
              </a:rPr>
              <a:t>Temporal smoothing needs the previous frame, so filter state is kept per client between requests. That is why the system needs a long-running process and cannot be deployed as stateless serverless functions.</a:t>
            </a:r>
          </a:p>
        </p:txBody>
      </p:sp>
      <p:sp>
        <p:nvSpPr>
          <p:cNvPr id="13" name="Rounded Rectangle 12"/>
          <p:cNvSpPr/>
          <p:nvPr/>
        </p:nvSpPr>
        <p:spPr>
          <a:xfrm>
            <a:off x="475488" y="4764024"/>
            <a:ext cx="8229600" cy="1417320"/>
          </a:xfrm>
          <a:prstGeom prst="roundRect">
            <a:avLst>
              <a:gd name="adj" fmla="val 5000"/>
            </a:avLst>
          </a:prstGeom>
          <a:solidFill>
            <a:srgbClr val="F4F6FA"/>
          </a:solidFill>
          <a:ln w="762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882896"/>
            <a:ext cx="7863840" cy="201168"/>
          </a:xfrm>
          <a:prstGeom prst="rect">
            <a:avLst/>
          </a:prstGeom>
          <a:noFill/>
        </p:spPr>
        <p:txBody>
          <a:bodyPr wrap="none" lIns="0" tIns="0" bIns="0">
            <a:spAutoFit/>
          </a:bodyPr>
          <a:lstStyle/>
          <a:p>
            <a:r>
              <a:rPr sz="850" b="1">
                <a:solidFill>
                  <a:srgbClr val="6E6E6E"/>
                </a:solidFill>
                <a:latin typeface="Aptos"/>
              </a:rPr>
              <a:t>STACK USED</a:t>
            </a:r>
          </a:p>
        </p:txBody>
      </p:sp>
      <p:sp>
        <p:nvSpPr>
          <p:cNvPr id="15" name="Rounded Rectangle 14"/>
          <p:cNvSpPr/>
          <p:nvPr/>
        </p:nvSpPr>
        <p:spPr>
          <a:xfrm>
            <a:off x="658368" y="5148072"/>
            <a:ext cx="109270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Python 3.12</a:t>
            </a:r>
          </a:p>
        </p:txBody>
      </p:sp>
      <p:sp>
        <p:nvSpPr>
          <p:cNvPr id="16" name="Rounded Rectangle 15"/>
          <p:cNvSpPr/>
          <p:nvPr/>
        </p:nvSpPr>
        <p:spPr>
          <a:xfrm>
            <a:off x="1833372" y="5148072"/>
            <a:ext cx="117043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PyTorch 2.13</a:t>
            </a:r>
          </a:p>
        </p:txBody>
      </p:sp>
      <p:sp>
        <p:nvSpPr>
          <p:cNvPr id="17" name="Rounded Rectangle 16"/>
          <p:cNvSpPr/>
          <p:nvPr/>
        </p:nvSpPr>
        <p:spPr>
          <a:xfrm>
            <a:off x="3086100" y="5148072"/>
            <a:ext cx="101498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OpenCV 5.0</a:t>
            </a:r>
          </a:p>
        </p:txBody>
      </p:sp>
      <p:sp>
        <p:nvSpPr>
          <p:cNvPr id="18" name="Rounded Rectangle 17"/>
          <p:cNvSpPr/>
          <p:nvPr/>
        </p:nvSpPr>
        <p:spPr>
          <a:xfrm>
            <a:off x="4183380" y="5148072"/>
            <a:ext cx="78181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FastAPI</a:t>
            </a:r>
          </a:p>
        </p:txBody>
      </p:sp>
      <p:sp>
        <p:nvSpPr>
          <p:cNvPr id="19" name="Rounded Rectangle 18"/>
          <p:cNvSpPr/>
          <p:nvPr/>
        </p:nvSpPr>
        <p:spPr>
          <a:xfrm>
            <a:off x="5047488" y="5148072"/>
            <a:ext cx="78181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Uvicorn</a:t>
            </a:r>
          </a:p>
        </p:txBody>
      </p:sp>
      <p:sp>
        <p:nvSpPr>
          <p:cNvPr id="20" name="Rounded Rectangle 19"/>
          <p:cNvSpPr/>
          <p:nvPr/>
        </p:nvSpPr>
        <p:spPr>
          <a:xfrm>
            <a:off x="5911596" y="5148072"/>
            <a:ext cx="85953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React 19</a:t>
            </a:r>
          </a:p>
        </p:txBody>
      </p:sp>
      <p:sp>
        <p:nvSpPr>
          <p:cNvPr id="21" name="Rounded Rectangle 20"/>
          <p:cNvSpPr/>
          <p:nvPr/>
        </p:nvSpPr>
        <p:spPr>
          <a:xfrm>
            <a:off x="6853428" y="5148072"/>
            <a:ext cx="70408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Vite 8</a:t>
            </a:r>
          </a:p>
        </p:txBody>
      </p:sp>
      <p:sp>
        <p:nvSpPr>
          <p:cNvPr id="22" name="Rounded Rectangle 21"/>
          <p:cNvSpPr/>
          <p:nvPr/>
        </p:nvSpPr>
        <p:spPr>
          <a:xfrm>
            <a:off x="658368" y="5504688"/>
            <a:ext cx="85953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Tailwind</a:t>
            </a:r>
          </a:p>
        </p:txBody>
      </p:sp>
      <p:sp>
        <p:nvSpPr>
          <p:cNvPr id="23" name="Rounded Rectangle 22"/>
          <p:cNvSpPr/>
          <p:nvPr/>
        </p:nvSpPr>
        <p:spPr>
          <a:xfrm>
            <a:off x="1600200" y="5504688"/>
            <a:ext cx="70408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pytest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Tools &amp; Technologies</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Everything below is pinned in the repository and reproducible.</a:t>
            </a:r>
          </a:p>
        </p:txBody>
      </p:sp>
      <p:sp>
        <p:nvSpPr>
          <p:cNvPr id="4" name="Rounded Rectangle 3"/>
          <p:cNvSpPr/>
          <p:nvPr/>
        </p:nvSpPr>
        <p:spPr>
          <a:xfrm>
            <a:off x="475488" y="1554480"/>
            <a:ext cx="2645664" cy="1874519"/>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Model</a:t>
            </a:r>
          </a:p>
          <a:p>
            <a:pPr>
              <a:spcAft>
                <a:spcPts val="800"/>
              </a:spcAft>
            </a:pPr>
            <a:r>
              <a:rPr sz="850" b="1">
                <a:solidFill>
                  <a:srgbClr val="1668C0"/>
                </a:solidFill>
                <a:latin typeface="Aptos"/>
              </a:rPr>
              <a:t>3.33 M PARAMETERS</a:t>
            </a:r>
          </a:p>
          <a:p>
            <a:pPr>
              <a:spcAft>
                <a:spcPts val="600"/>
              </a:spcAft>
            </a:pPr>
            <a:r>
              <a:rPr sz="1100">
                <a:solidFill>
                  <a:srgbClr val="55606B"/>
                </a:solidFill>
                <a:latin typeface="Aptos"/>
              </a:rPr>
              <a:t>▪  MobileNetV3-Large backbone</a:t>
            </a:r>
          </a:p>
          <a:p>
            <a:pPr>
              <a:spcAft>
                <a:spcPts val="600"/>
              </a:spcAft>
            </a:pPr>
            <a:r>
              <a:rPr sz="1100">
                <a:solidFill>
                  <a:srgbClr val="55606B"/>
                </a:solidFill>
                <a:latin typeface="Aptos"/>
              </a:rPr>
              <a:t>▪  LR-ASPP context head, FPN decoder</a:t>
            </a:r>
          </a:p>
          <a:p>
            <a:pPr>
              <a:spcAft>
                <a:spcPts val="600"/>
              </a:spcAft>
            </a:pPr>
            <a:r>
              <a:rPr sz="1100">
                <a:solidFill>
                  <a:srgbClr val="55606B"/>
                </a:solidFill>
                <a:latin typeface="Aptos"/>
              </a:rPr>
              <a:t>▪  Seven semantic classes plus a lane head</a:t>
            </a:r>
          </a:p>
        </p:txBody>
      </p:sp>
      <p:sp>
        <p:nvSpPr>
          <p:cNvPr id="5" name="Rectangle 4"/>
          <p:cNvSpPr/>
          <p:nvPr/>
        </p:nvSpPr>
        <p:spPr>
          <a:xfrm>
            <a:off x="475488" y="1572768"/>
            <a:ext cx="68580" cy="1837943"/>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67456" y="1554480"/>
            <a:ext cx="2645664" cy="1874519"/>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Pipeline</a:t>
            </a:r>
          </a:p>
          <a:p>
            <a:pPr>
              <a:spcAft>
                <a:spcPts val="800"/>
              </a:spcAft>
            </a:pPr>
            <a:r>
              <a:rPr sz="850" b="1">
                <a:solidFill>
                  <a:srgbClr val="1668C0"/>
                </a:solidFill>
                <a:latin typeface="Aptos"/>
              </a:rPr>
              <a:t>GEOMETRY AND TRACKING</a:t>
            </a:r>
          </a:p>
          <a:p>
            <a:pPr>
              <a:spcAft>
                <a:spcPts val="600"/>
              </a:spcAft>
            </a:pPr>
            <a:r>
              <a:rPr sz="1100">
                <a:solidFill>
                  <a:srgbClr val="55606B"/>
                </a:solidFill>
                <a:latin typeface="Aptos"/>
              </a:rPr>
              <a:t>▪  Inverse perspective mapping</a:t>
            </a:r>
          </a:p>
          <a:p>
            <a:pPr>
              <a:spcAft>
                <a:spcPts val="600"/>
              </a:spcAft>
            </a:pPr>
            <a:r>
              <a:rPr sz="1100">
                <a:solidFill>
                  <a:srgbClr val="55606B"/>
                </a:solidFill>
                <a:latin typeface="Aptos"/>
              </a:rPr>
              <a:t>▪  Occlusion-bridged width profile</a:t>
            </a:r>
          </a:p>
          <a:p>
            <a:pPr>
              <a:spcAft>
                <a:spcPts val="600"/>
              </a:spcAft>
            </a:pPr>
            <a:r>
              <a:rPr sz="1100">
                <a:solidFill>
                  <a:srgbClr val="55606B"/>
                </a:solidFill>
                <a:latin typeface="Aptos"/>
              </a:rPr>
              <a:t>▪  Kalman filter and majority vote</a:t>
            </a:r>
          </a:p>
        </p:txBody>
      </p:sp>
      <p:sp>
        <p:nvSpPr>
          <p:cNvPr id="7" name="Rectangle 6"/>
          <p:cNvSpPr/>
          <p:nvPr/>
        </p:nvSpPr>
        <p:spPr>
          <a:xfrm>
            <a:off x="3267456" y="1572768"/>
            <a:ext cx="68580" cy="1837943"/>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59424" y="1554480"/>
            <a:ext cx="2645664" cy="1874519"/>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Delivery</a:t>
            </a:r>
          </a:p>
          <a:p>
            <a:pPr>
              <a:spcAft>
                <a:spcPts val="800"/>
              </a:spcAft>
            </a:pPr>
            <a:r>
              <a:rPr sz="850" b="1">
                <a:solidFill>
                  <a:srgbClr val="1668C0"/>
                </a:solidFill>
                <a:latin typeface="Aptos"/>
              </a:rPr>
              <a:t>A RUNNING APPLICATION</a:t>
            </a:r>
          </a:p>
          <a:p>
            <a:pPr>
              <a:spcAft>
                <a:spcPts val="600"/>
              </a:spcAft>
            </a:pPr>
            <a:r>
              <a:rPr sz="1100">
                <a:solidFill>
                  <a:srgbClr val="55606B"/>
                </a:solidFill>
                <a:latin typeface="Aptos"/>
              </a:rPr>
              <a:t>▪  FastAPI backend, eleven endpoints</a:t>
            </a:r>
          </a:p>
          <a:p>
            <a:pPr>
              <a:spcAft>
                <a:spcPts val="600"/>
              </a:spcAft>
            </a:pPr>
            <a:r>
              <a:rPr sz="1100">
                <a:solidFill>
                  <a:srgbClr val="55606B"/>
                </a:solidFill>
                <a:latin typeface="Aptos"/>
              </a:rPr>
              <a:t>▪  React interface, report and demo routes</a:t>
            </a:r>
          </a:p>
          <a:p>
            <a:pPr>
              <a:spcAft>
                <a:spcPts val="600"/>
              </a:spcAft>
            </a:pPr>
            <a:r>
              <a:rPr sz="1100">
                <a:solidFill>
                  <a:srgbClr val="55606B"/>
                </a:solidFill>
                <a:latin typeface="Aptos"/>
              </a:rPr>
              <a:t>▪  32 tests over geometry, metrics and API</a:t>
            </a:r>
          </a:p>
        </p:txBody>
      </p:sp>
      <p:sp>
        <p:nvSpPr>
          <p:cNvPr id="9" name="Rectangle 8"/>
          <p:cNvSpPr/>
          <p:nvPr/>
        </p:nvSpPr>
        <p:spPr>
          <a:xfrm>
            <a:off x="6059424" y="1572768"/>
            <a:ext cx="68580" cy="1837943"/>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5488" y="3584448"/>
            <a:ext cx="8229600" cy="1325880"/>
          </a:xfrm>
          <a:prstGeom prst="roundRect">
            <a:avLst>
              <a:gd name="adj" fmla="val 5000"/>
            </a:avLst>
          </a:prstGeom>
          <a:solidFill>
            <a:srgbClr val="F4F6FA"/>
          </a:solidFill>
          <a:ln w="762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703320"/>
            <a:ext cx="7863840" cy="201168"/>
          </a:xfrm>
          <a:prstGeom prst="rect">
            <a:avLst/>
          </a:prstGeom>
          <a:noFill/>
        </p:spPr>
        <p:txBody>
          <a:bodyPr wrap="none" lIns="0" tIns="0" bIns="0">
            <a:spAutoFit/>
          </a:bodyPr>
          <a:lstStyle/>
          <a:p>
            <a:r>
              <a:rPr sz="850" b="1">
                <a:solidFill>
                  <a:srgbClr val="6E6E6E"/>
                </a:solidFill>
                <a:latin typeface="Aptos"/>
              </a:rPr>
              <a:t>STACK USED</a:t>
            </a:r>
          </a:p>
        </p:txBody>
      </p:sp>
      <p:sp>
        <p:nvSpPr>
          <p:cNvPr id="12" name="Rounded Rectangle 11"/>
          <p:cNvSpPr/>
          <p:nvPr/>
        </p:nvSpPr>
        <p:spPr>
          <a:xfrm>
            <a:off x="658368" y="3968496"/>
            <a:ext cx="109270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Python 3.12</a:t>
            </a:r>
          </a:p>
        </p:txBody>
      </p:sp>
      <p:sp>
        <p:nvSpPr>
          <p:cNvPr id="13" name="Rounded Rectangle 12"/>
          <p:cNvSpPr/>
          <p:nvPr/>
        </p:nvSpPr>
        <p:spPr>
          <a:xfrm>
            <a:off x="1833372" y="3968496"/>
            <a:ext cx="117043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PyTorch 2.13</a:t>
            </a:r>
          </a:p>
        </p:txBody>
      </p:sp>
      <p:sp>
        <p:nvSpPr>
          <p:cNvPr id="14" name="Rounded Rectangle 13"/>
          <p:cNvSpPr/>
          <p:nvPr/>
        </p:nvSpPr>
        <p:spPr>
          <a:xfrm>
            <a:off x="3086100" y="3968496"/>
            <a:ext cx="148132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torchvision 0.28</a:t>
            </a:r>
          </a:p>
        </p:txBody>
      </p:sp>
      <p:sp>
        <p:nvSpPr>
          <p:cNvPr id="15" name="Rounded Rectangle 14"/>
          <p:cNvSpPr/>
          <p:nvPr/>
        </p:nvSpPr>
        <p:spPr>
          <a:xfrm>
            <a:off x="4649724" y="3968496"/>
            <a:ext cx="101498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OpenCV 5.0</a:t>
            </a:r>
          </a:p>
        </p:txBody>
      </p:sp>
      <p:sp>
        <p:nvSpPr>
          <p:cNvPr id="16" name="Rounded Rectangle 15"/>
          <p:cNvSpPr/>
          <p:nvPr/>
        </p:nvSpPr>
        <p:spPr>
          <a:xfrm>
            <a:off x="5747004" y="3968496"/>
            <a:ext cx="937260"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NumPy 2.5</a:t>
            </a:r>
          </a:p>
        </p:txBody>
      </p:sp>
      <p:sp>
        <p:nvSpPr>
          <p:cNvPr id="17" name="Rounded Rectangle 16"/>
          <p:cNvSpPr/>
          <p:nvPr/>
        </p:nvSpPr>
        <p:spPr>
          <a:xfrm>
            <a:off x="6766560" y="3968496"/>
            <a:ext cx="124815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FastAPI 0.141</a:t>
            </a:r>
          </a:p>
        </p:txBody>
      </p:sp>
      <p:sp>
        <p:nvSpPr>
          <p:cNvPr id="18" name="Rounded Rectangle 17"/>
          <p:cNvSpPr/>
          <p:nvPr/>
        </p:nvSpPr>
        <p:spPr>
          <a:xfrm>
            <a:off x="658368" y="4325112"/>
            <a:ext cx="78181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Uvicorn</a:t>
            </a:r>
          </a:p>
        </p:txBody>
      </p:sp>
      <p:sp>
        <p:nvSpPr>
          <p:cNvPr id="19" name="Rounded Rectangle 18"/>
          <p:cNvSpPr/>
          <p:nvPr/>
        </p:nvSpPr>
        <p:spPr>
          <a:xfrm>
            <a:off x="1522476" y="4325112"/>
            <a:ext cx="85953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React 19</a:t>
            </a:r>
          </a:p>
        </p:txBody>
      </p:sp>
      <p:sp>
        <p:nvSpPr>
          <p:cNvPr id="20" name="Rounded Rectangle 19"/>
          <p:cNvSpPr/>
          <p:nvPr/>
        </p:nvSpPr>
        <p:spPr>
          <a:xfrm>
            <a:off x="2464308" y="4325112"/>
            <a:ext cx="70408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Vite 8</a:t>
            </a:r>
          </a:p>
        </p:txBody>
      </p:sp>
      <p:sp>
        <p:nvSpPr>
          <p:cNvPr id="21" name="Rounded Rectangle 20"/>
          <p:cNvSpPr/>
          <p:nvPr/>
        </p:nvSpPr>
        <p:spPr>
          <a:xfrm>
            <a:off x="3250692" y="4325112"/>
            <a:ext cx="101498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Tailwind 3</a:t>
            </a:r>
          </a:p>
        </p:txBody>
      </p:sp>
      <p:sp>
        <p:nvSpPr>
          <p:cNvPr id="22" name="Rounded Rectangle 21"/>
          <p:cNvSpPr/>
          <p:nvPr/>
        </p:nvSpPr>
        <p:spPr>
          <a:xfrm>
            <a:off x="4347972" y="4325112"/>
            <a:ext cx="85953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Recharts</a:t>
            </a:r>
          </a:p>
        </p:txBody>
      </p:sp>
      <p:sp>
        <p:nvSpPr>
          <p:cNvPr id="23" name="Rounded Rectangle 22"/>
          <p:cNvSpPr/>
          <p:nvPr/>
        </p:nvSpPr>
        <p:spPr>
          <a:xfrm>
            <a:off x="5289804" y="4325112"/>
            <a:ext cx="70408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pytest</a:t>
            </a:r>
          </a:p>
        </p:txBody>
      </p:sp>
      <p:sp>
        <p:nvSpPr>
          <p:cNvPr id="24" name="Rounded Rectangle 23"/>
          <p:cNvSpPr/>
          <p:nvPr/>
        </p:nvSpPr>
        <p:spPr>
          <a:xfrm>
            <a:off x="6076188" y="4325112"/>
            <a:ext cx="937260"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Apple MPS</a:t>
            </a:r>
          </a:p>
        </p:txBody>
      </p:sp>
      <p:sp>
        <p:nvSpPr>
          <p:cNvPr id="25" name="Rounded Rectangle 24"/>
          <p:cNvSpPr/>
          <p:nvPr/>
        </p:nvSpPr>
        <p:spPr>
          <a:xfrm>
            <a:off x="475488" y="5065776"/>
            <a:ext cx="2606040" cy="105156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127 min</a:t>
            </a:r>
          </a:p>
          <a:p>
            <a:pPr algn="ctr"/>
            <a:r>
              <a:rPr sz="950">
                <a:solidFill>
                  <a:srgbClr val="6E6E6E"/>
                </a:solidFill>
                <a:latin typeface="Aptos"/>
              </a:rPr>
              <a:t>training, 40 epochs on the laptop GPU</a:t>
            </a:r>
          </a:p>
        </p:txBody>
      </p:sp>
      <p:sp>
        <p:nvSpPr>
          <p:cNvPr id="26" name="Rectangle 25"/>
          <p:cNvSpPr/>
          <p:nvPr/>
        </p:nvSpPr>
        <p:spPr>
          <a:xfrm>
            <a:off x="493776" y="5065776"/>
            <a:ext cx="2569464"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291840" y="5065776"/>
            <a:ext cx="2606040" cy="105156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36.5 ms</a:t>
            </a:r>
          </a:p>
          <a:p>
            <a:pPr algn="ctr"/>
            <a:r>
              <a:rPr sz="950">
                <a:solidFill>
                  <a:srgbClr val="6E6E6E"/>
                </a:solidFill>
                <a:latin typeface="Aptos"/>
              </a:rPr>
              <a:t>end to end per frame, 27 fps</a:t>
            </a:r>
          </a:p>
        </p:txBody>
      </p:sp>
      <p:sp>
        <p:nvSpPr>
          <p:cNvPr id="28" name="Rectangle 27"/>
          <p:cNvSpPr/>
          <p:nvPr/>
        </p:nvSpPr>
        <p:spPr>
          <a:xfrm>
            <a:off x="3310128" y="5065776"/>
            <a:ext cx="2569464"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099048" y="5065776"/>
            <a:ext cx="2606040" cy="105156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32</a:t>
            </a:r>
          </a:p>
          <a:p>
            <a:pPr algn="ctr"/>
            <a:r>
              <a:rPr sz="950">
                <a:solidFill>
                  <a:srgbClr val="6E6E6E"/>
                </a:solidFill>
                <a:latin typeface="Aptos"/>
              </a:rPr>
              <a:t>tests, all passing</a:t>
            </a:r>
          </a:p>
        </p:txBody>
      </p:sp>
      <p:sp>
        <p:nvSpPr>
          <p:cNvPr id="30" name="Rectangle 29"/>
          <p:cNvSpPr/>
          <p:nvPr/>
        </p:nvSpPr>
        <p:spPr>
          <a:xfrm>
            <a:off x="6117336" y="5065776"/>
            <a:ext cx="2569464"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Implementation</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Four stages, and the defect each one exposed when it was measured.</a:t>
            </a:r>
          </a:p>
        </p:txBody>
      </p:sp>
      <p:sp>
        <p:nvSpPr>
          <p:cNvPr id="4" name="Rounded Rectangle 3"/>
          <p:cNvSpPr/>
          <p:nvPr/>
        </p:nvSpPr>
        <p:spPr>
          <a:xfrm>
            <a:off x="475488" y="1554480"/>
            <a:ext cx="1947672" cy="19202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Segmentation</a:t>
            </a:r>
          </a:p>
          <a:p>
            <a:pPr>
              <a:spcAft>
                <a:spcPts val="800"/>
              </a:spcAft>
            </a:pPr>
            <a:r>
              <a:rPr sz="850" b="1">
                <a:solidFill>
                  <a:srgbClr val="1668C0"/>
                </a:solidFill>
                <a:latin typeface="Aptos"/>
              </a:rPr>
              <a:t>ONE FORWARD PASS</a:t>
            </a:r>
          </a:p>
          <a:p>
            <a:pPr>
              <a:spcAft>
                <a:spcPts val="600"/>
              </a:spcAft>
            </a:pPr>
            <a:r>
              <a:rPr sz="1100">
                <a:solidFill>
                  <a:srgbClr val="55606B"/>
                </a:solidFill>
                <a:latin typeface="Aptos"/>
              </a:rPr>
              <a:t>▪  Two heads share the decoder, so lane markings cost no extra time</a:t>
            </a:r>
          </a:p>
        </p:txBody>
      </p:sp>
      <p:sp>
        <p:nvSpPr>
          <p:cNvPr id="5" name="Rectangle 4"/>
          <p:cNvSpPr/>
          <p:nvPr/>
        </p:nvSpPr>
        <p:spPr>
          <a:xfrm>
            <a:off x="475488" y="1572768"/>
            <a:ext cx="68580" cy="188366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69464" y="1554480"/>
            <a:ext cx="1947672" cy="19202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Geometry</a:t>
            </a:r>
          </a:p>
          <a:p>
            <a:pPr>
              <a:spcAft>
                <a:spcPts val="800"/>
              </a:spcAft>
            </a:pPr>
            <a:r>
              <a:rPr sz="850" b="1">
                <a:solidFill>
                  <a:srgbClr val="1668C0"/>
                </a:solidFill>
                <a:latin typeface="Aptos"/>
              </a:rPr>
              <a:t>PITCH PER FRAME</a:t>
            </a:r>
          </a:p>
          <a:p>
            <a:pPr>
              <a:spcAft>
                <a:spcPts val="600"/>
              </a:spcAft>
            </a:pPr>
            <a:r>
              <a:rPr sz="1100">
                <a:solidFill>
                  <a:srgbClr val="55606B"/>
                </a:solidFill>
                <a:latin typeface="Aptos"/>
              </a:rPr>
              <a:t>▪  Clipped edge points excluded. One frame gave 25.1° of pitch until they were</a:t>
            </a:r>
          </a:p>
        </p:txBody>
      </p:sp>
      <p:sp>
        <p:nvSpPr>
          <p:cNvPr id="7" name="Rectangle 6"/>
          <p:cNvSpPr/>
          <p:nvPr/>
        </p:nvSpPr>
        <p:spPr>
          <a:xfrm>
            <a:off x="2569464" y="1572768"/>
            <a:ext cx="68580" cy="188366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554480"/>
            <a:ext cx="1947672" cy="19202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Measurement</a:t>
            </a:r>
          </a:p>
          <a:p>
            <a:pPr>
              <a:spcAft>
                <a:spcPts val="800"/>
              </a:spcAft>
            </a:pPr>
            <a:r>
              <a:rPr sz="850" b="1">
                <a:solidFill>
                  <a:srgbClr val="1668C0"/>
                </a:solidFill>
                <a:latin typeface="Aptos"/>
              </a:rPr>
              <a:t>SEE THROUGH TRAFFIC</a:t>
            </a:r>
          </a:p>
          <a:p>
            <a:pPr>
              <a:spcAft>
                <a:spcPts val="600"/>
              </a:spcAft>
            </a:pPr>
            <a:r>
              <a:rPr sz="1100">
                <a:solidFill>
                  <a:srgbClr val="55606B"/>
                </a:solidFill>
                <a:latin typeface="Aptos"/>
              </a:rPr>
              <a:t>▪  Occlusion handled per row. Bridging every row doubled the road across a median</a:t>
            </a:r>
          </a:p>
        </p:txBody>
      </p:sp>
      <p:sp>
        <p:nvSpPr>
          <p:cNvPr id="9" name="Rectangle 8"/>
          <p:cNvSpPr/>
          <p:nvPr/>
        </p:nvSpPr>
        <p:spPr>
          <a:xfrm>
            <a:off x="4663440" y="1572768"/>
            <a:ext cx="68580" cy="188366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57416" y="1554480"/>
            <a:ext cx="1947672" cy="19202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Refusal</a:t>
            </a:r>
          </a:p>
          <a:p>
            <a:pPr>
              <a:spcAft>
                <a:spcPts val="800"/>
              </a:spcAft>
            </a:pPr>
            <a:r>
              <a:rPr sz="850" b="1">
                <a:solidFill>
                  <a:srgbClr val="1668C0"/>
                </a:solidFill>
                <a:latin typeface="Aptos"/>
              </a:rPr>
              <a:t>DECLINE, DO NOT GUESS</a:t>
            </a:r>
          </a:p>
          <a:p>
            <a:pPr>
              <a:spcAft>
                <a:spcPts val="600"/>
              </a:spcAft>
            </a:pPr>
            <a:r>
              <a:rPr sz="1100">
                <a:solidFill>
                  <a:srgbClr val="55606B"/>
                </a:solidFill>
                <a:latin typeface="Aptos"/>
              </a:rPr>
              <a:t>▪  The scene is checked first. The network calls a black frame 26% drivable</a:t>
            </a:r>
          </a:p>
        </p:txBody>
      </p:sp>
      <p:sp>
        <p:nvSpPr>
          <p:cNvPr id="11" name="Rectangle 10"/>
          <p:cNvSpPr/>
          <p:nvPr/>
        </p:nvSpPr>
        <p:spPr>
          <a:xfrm>
            <a:off x="6757416" y="1572768"/>
            <a:ext cx="68580" cy="188366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5488" y="3630168"/>
            <a:ext cx="8229600" cy="132588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The largest single defect we found</a:t>
            </a:r>
          </a:p>
          <a:p>
            <a:pPr>
              <a:spcAft>
                <a:spcPts val="500"/>
              </a:spcAft>
            </a:pPr>
            <a:r>
              <a:rPr sz="1150">
                <a:solidFill>
                  <a:srgbClr val="D8E0EC"/>
                </a:solidFill>
                <a:latin typeface="Aptos"/>
              </a:rPr>
              <a:t>Bridging vehicles into the road mask fixes parked vans and breaks medians. Choosing per row instead took relative width error at p90 from 151% to 47%. We found it by checking the lane model against the mask it was built from, not against ground truth.</a:t>
            </a:r>
          </a:p>
        </p:txBody>
      </p:sp>
      <p:sp>
        <p:nvSpPr>
          <p:cNvPr id="13" name="Rounded Rectangle 12"/>
          <p:cNvSpPr/>
          <p:nvPr/>
        </p:nvSpPr>
        <p:spPr>
          <a:xfrm>
            <a:off x="475488" y="5111496"/>
            <a:ext cx="8229600" cy="1161288"/>
          </a:xfrm>
          <a:prstGeom prst="roundRect">
            <a:avLst>
              <a:gd name="adj" fmla="val 5000"/>
            </a:avLst>
          </a:prstGeom>
          <a:solidFill>
            <a:srgbClr val="F4F6FA"/>
          </a:solidFill>
          <a:ln w="762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230368"/>
            <a:ext cx="7863840" cy="201168"/>
          </a:xfrm>
          <a:prstGeom prst="rect">
            <a:avLst/>
          </a:prstGeom>
          <a:noFill/>
        </p:spPr>
        <p:txBody>
          <a:bodyPr wrap="none" lIns="0" tIns="0" bIns="0">
            <a:spAutoFit/>
          </a:bodyPr>
          <a:lstStyle/>
          <a:p>
            <a:r>
              <a:rPr sz="850" b="1">
                <a:solidFill>
                  <a:srgbClr val="6E6E6E"/>
                </a:solidFill>
                <a:latin typeface="Aptos"/>
              </a:rPr>
              <a:t>SUPPORTING PIECES</a:t>
            </a:r>
          </a:p>
        </p:txBody>
      </p:sp>
      <p:sp>
        <p:nvSpPr>
          <p:cNvPr id="15" name="Rounded Rectangle 14"/>
          <p:cNvSpPr/>
          <p:nvPr/>
        </p:nvSpPr>
        <p:spPr>
          <a:xfrm>
            <a:off x="658368" y="5495544"/>
            <a:ext cx="140360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CIELAB fallback</a:t>
            </a:r>
          </a:p>
        </p:txBody>
      </p:sp>
      <p:sp>
        <p:nvSpPr>
          <p:cNvPr id="16" name="Rounded Rectangle 15"/>
          <p:cNvSpPr/>
          <p:nvPr/>
        </p:nvSpPr>
        <p:spPr>
          <a:xfrm>
            <a:off x="2144268" y="5495544"/>
            <a:ext cx="117043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hole filling</a:t>
            </a:r>
          </a:p>
        </p:txBody>
      </p:sp>
      <p:sp>
        <p:nvSpPr>
          <p:cNvPr id="17" name="Rounded Rectangle 16"/>
          <p:cNvSpPr/>
          <p:nvPr/>
        </p:nvSpPr>
        <p:spPr>
          <a:xfrm>
            <a:off x="3396996" y="5495544"/>
            <a:ext cx="2258568"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bottom-connected component</a:t>
            </a:r>
          </a:p>
        </p:txBody>
      </p:sp>
      <p:sp>
        <p:nvSpPr>
          <p:cNvPr id="18" name="Rounded Rectangle 17"/>
          <p:cNvSpPr/>
          <p:nvPr/>
        </p:nvSpPr>
        <p:spPr>
          <a:xfrm>
            <a:off x="5737860" y="5495544"/>
            <a:ext cx="1714500"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polynomial edge fit</a:t>
            </a:r>
          </a:p>
        </p:txBody>
      </p:sp>
      <p:sp>
        <p:nvSpPr>
          <p:cNvPr id="19" name="Rounded Rectangle 18"/>
          <p:cNvSpPr/>
          <p:nvPr/>
        </p:nvSpPr>
        <p:spPr>
          <a:xfrm>
            <a:off x="658368" y="5852160"/>
            <a:ext cx="194767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per-state Kalman noise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Results &amp; Analysis</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Measured on the 204-frame IDD-Lite validation split.</a:t>
            </a:r>
          </a:p>
        </p:txBody>
      </p:sp>
      <p:sp>
        <p:nvSpPr>
          <p:cNvPr id="4" name="Rounded Rectangle 3"/>
          <p:cNvSpPr/>
          <p:nvPr/>
        </p:nvSpPr>
        <p:spPr>
          <a:xfrm>
            <a:off x="475488" y="1554480"/>
            <a:ext cx="1947672" cy="109728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0.9310</a:t>
            </a:r>
          </a:p>
          <a:p>
            <a:pPr algn="ctr"/>
            <a:r>
              <a:rPr sz="950">
                <a:solidFill>
                  <a:srgbClr val="6E6E6E"/>
                </a:solidFill>
                <a:latin typeface="Aptos"/>
              </a:rPr>
              <a:t>drivable IoU, deployed</a:t>
            </a:r>
          </a:p>
        </p:txBody>
      </p:sp>
      <p:sp>
        <p:nvSpPr>
          <p:cNvPr id="5" name="Rectangle 4"/>
          <p:cNvSpPr/>
          <p:nvPr/>
        </p:nvSpPr>
        <p:spPr>
          <a:xfrm>
            <a:off x="493776" y="1554480"/>
            <a:ext cx="1911096"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69464" y="1554480"/>
            <a:ext cx="1947672" cy="109728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0.7754</a:t>
            </a:r>
          </a:p>
          <a:p>
            <a:pPr algn="ctr"/>
            <a:r>
              <a:rPr sz="950">
                <a:solidFill>
                  <a:srgbClr val="6E6E6E"/>
                </a:solidFill>
                <a:latin typeface="Aptos"/>
              </a:rPr>
              <a:t>boundary F1, deployed</a:t>
            </a:r>
          </a:p>
        </p:txBody>
      </p:sp>
      <p:sp>
        <p:nvSpPr>
          <p:cNvPr id="7" name="Rectangle 6"/>
          <p:cNvSpPr/>
          <p:nvPr/>
        </p:nvSpPr>
        <p:spPr>
          <a:xfrm>
            <a:off x="2587752" y="1554480"/>
            <a:ext cx="1911096"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1554480"/>
            <a:ext cx="1947672" cy="109728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165/204</a:t>
            </a:r>
          </a:p>
          <a:p>
            <a:pPr algn="ctr"/>
            <a:r>
              <a:rPr sz="950">
                <a:solidFill>
                  <a:srgbClr val="6E6E6E"/>
                </a:solidFill>
                <a:latin typeface="Aptos"/>
              </a:rPr>
              <a:t>lane solutions, 80.9 per cent</a:t>
            </a:r>
          </a:p>
        </p:txBody>
      </p:sp>
      <p:sp>
        <p:nvSpPr>
          <p:cNvPr id="9" name="Rectangle 8"/>
          <p:cNvSpPr/>
          <p:nvPr/>
        </p:nvSpPr>
        <p:spPr>
          <a:xfrm>
            <a:off x="4681728" y="1554480"/>
            <a:ext cx="1911096"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57416" y="1554480"/>
            <a:ext cx="1947672" cy="109728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27 fps</a:t>
            </a:r>
          </a:p>
          <a:p>
            <a:pPr algn="ctr"/>
            <a:r>
              <a:rPr sz="950">
                <a:solidFill>
                  <a:srgbClr val="6E6E6E"/>
                </a:solidFill>
                <a:latin typeface="Aptos"/>
              </a:rPr>
              <a:t>end to end, 36.5 ms per frame</a:t>
            </a:r>
          </a:p>
        </p:txBody>
      </p:sp>
      <p:sp>
        <p:nvSpPr>
          <p:cNvPr id="11" name="Rectangle 10"/>
          <p:cNvSpPr/>
          <p:nvPr/>
        </p:nvSpPr>
        <p:spPr>
          <a:xfrm>
            <a:off x="6775704" y="1554480"/>
            <a:ext cx="1911096"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5488" y="2798064"/>
            <a:ext cx="2645664" cy="16916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Against what it replaces</a:t>
            </a:r>
          </a:p>
          <a:p>
            <a:pPr>
              <a:spcAft>
                <a:spcPts val="800"/>
              </a:spcAft>
            </a:pPr>
            <a:r>
              <a:rPr sz="850" b="1">
                <a:solidFill>
                  <a:srgbClr val="1668C0"/>
                </a:solidFill>
                <a:latin typeface="Aptos"/>
              </a:rPr>
              <a:t>THE FLOOR</a:t>
            </a:r>
          </a:p>
          <a:p>
            <a:pPr>
              <a:spcAft>
                <a:spcPts val="600"/>
              </a:spcAft>
            </a:pPr>
            <a:r>
              <a:rPr sz="1100">
                <a:solidFill>
                  <a:srgbClr val="55606B"/>
                </a:solidFill>
                <a:latin typeface="Aptos"/>
              </a:rPr>
              <a:t>▪  Study project pipeline 0.4270 drivable IoU</a:t>
            </a:r>
          </a:p>
          <a:p>
            <a:pPr>
              <a:spcAft>
                <a:spcPts val="600"/>
              </a:spcAft>
            </a:pPr>
            <a:r>
              <a:rPr sz="1100">
                <a:solidFill>
                  <a:srgbClr val="55606B"/>
                </a:solidFill>
                <a:latin typeface="Aptos"/>
              </a:rPr>
              <a:t>▪  Fixed trapezoid, which ignores the image, 0.6450</a:t>
            </a:r>
          </a:p>
        </p:txBody>
      </p:sp>
      <p:sp>
        <p:nvSpPr>
          <p:cNvPr id="13" name="Rectangle 12"/>
          <p:cNvSpPr/>
          <p:nvPr/>
        </p:nvSpPr>
        <p:spPr>
          <a:xfrm>
            <a:off x="475488" y="2816352"/>
            <a:ext cx="68580" cy="165506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67456" y="2798064"/>
            <a:ext cx="2645664" cy="16916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Ceiling versus deployed</a:t>
            </a:r>
          </a:p>
          <a:p>
            <a:pPr>
              <a:spcAft>
                <a:spcPts val="800"/>
              </a:spcAft>
            </a:pPr>
            <a:r>
              <a:rPr sz="850" b="1">
                <a:solidFill>
                  <a:srgbClr val="1668C0"/>
                </a:solidFill>
                <a:latin typeface="Aptos"/>
              </a:rPr>
              <a:t>AN HONEST DISTINCTION</a:t>
            </a:r>
          </a:p>
          <a:p>
            <a:pPr>
              <a:spcAft>
                <a:spcPts val="600"/>
              </a:spcAft>
            </a:pPr>
            <a:r>
              <a:rPr sz="1100">
                <a:solidFill>
                  <a:srgbClr val="55606B"/>
                </a:solidFill>
                <a:latin typeface="Aptos"/>
              </a:rPr>
              <a:t>▪  The segmentation head alone reaches 0.9403</a:t>
            </a:r>
          </a:p>
          <a:p>
            <a:pPr>
              <a:spcAft>
                <a:spcPts val="600"/>
              </a:spcAft>
            </a:pPr>
            <a:r>
              <a:rPr sz="1100">
                <a:solidFill>
                  <a:srgbClr val="55606B"/>
                </a:solidFill>
                <a:latin typeface="Aptos"/>
              </a:rPr>
              <a:t>▪  Mask cleanup costs 0.0093 IoU and buys three more lane solutions</a:t>
            </a:r>
          </a:p>
        </p:txBody>
      </p:sp>
      <p:sp>
        <p:nvSpPr>
          <p:cNvPr id="15" name="Rectangle 14"/>
          <p:cNvSpPr/>
          <p:nvPr/>
        </p:nvSpPr>
        <p:spPr>
          <a:xfrm>
            <a:off x="3267456" y="2816352"/>
            <a:ext cx="68580" cy="165506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59424" y="2798064"/>
            <a:ext cx="2645664" cy="16916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Geometry accuracy</a:t>
            </a:r>
          </a:p>
          <a:p>
            <a:pPr>
              <a:spcAft>
                <a:spcPts val="800"/>
              </a:spcAft>
            </a:pPr>
            <a:r>
              <a:rPr sz="850" b="1">
                <a:solidFill>
                  <a:srgbClr val="1668C0"/>
                </a:solidFill>
                <a:latin typeface="Aptos"/>
              </a:rPr>
              <a:t>AGAINST GROUND TRUTH EDGES</a:t>
            </a:r>
          </a:p>
          <a:p>
            <a:pPr>
              <a:spcAft>
                <a:spcPts val="600"/>
              </a:spcAft>
            </a:pPr>
            <a:r>
              <a:rPr sz="1100">
                <a:solidFill>
                  <a:srgbClr val="55606B"/>
                </a:solidFill>
                <a:latin typeface="Aptos"/>
              </a:rPr>
              <a:t>▪  Median road-edge error 0.31 m</a:t>
            </a:r>
          </a:p>
          <a:p>
            <a:pPr>
              <a:spcAft>
                <a:spcPts val="600"/>
              </a:spcAft>
            </a:pPr>
            <a:r>
              <a:rPr sz="1100">
                <a:solidFill>
                  <a:srgbClr val="55606B"/>
                </a:solidFill>
                <a:latin typeface="Aptos"/>
              </a:rPr>
              <a:t>▪  Over 2,288 samples at 6 to 22 m ahead</a:t>
            </a:r>
          </a:p>
        </p:txBody>
      </p:sp>
      <p:sp>
        <p:nvSpPr>
          <p:cNvPr id="17" name="Rectangle 16"/>
          <p:cNvSpPr/>
          <p:nvPr/>
        </p:nvSpPr>
        <p:spPr>
          <a:xfrm>
            <a:off x="6059424" y="2816352"/>
            <a:ext cx="68580" cy="165506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5488" y="4645152"/>
            <a:ext cx="8229600" cy="109728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The result that reframed the project</a:t>
            </a:r>
          </a:p>
          <a:p>
            <a:pPr>
              <a:spcAft>
                <a:spcPts val="500"/>
              </a:spcAft>
            </a:pPr>
            <a:r>
              <a:rPr sz="1150">
                <a:solidFill>
                  <a:srgbClr val="D8E0EC"/>
                </a:solidFill>
                <a:latin typeface="Aptos"/>
              </a:rPr>
              <a:t>The pipeline this replaces scored below a fixed trapezoid that never looks at the image. That is what showed the problem was structural, not a tuning problem.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Challenges &amp; Limitations</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Stated here rather than left for the viva to find.</a:t>
            </a:r>
          </a:p>
        </p:txBody>
      </p:sp>
      <p:sp>
        <p:nvSpPr>
          <p:cNvPr id="4" name="Rounded Rectangle 3"/>
          <p:cNvSpPr/>
          <p:nvPr/>
        </p:nvSpPr>
        <p:spPr>
          <a:xfrm>
            <a:off x="475488" y="1554480"/>
            <a:ext cx="2645664" cy="157276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One metric assumption</a:t>
            </a:r>
          </a:p>
          <a:p>
            <a:pPr>
              <a:spcAft>
                <a:spcPts val="800"/>
              </a:spcAft>
            </a:pPr>
            <a:r>
              <a:rPr sz="850" b="1">
                <a:solidFill>
                  <a:srgbClr val="1668C0"/>
                </a:solidFill>
                <a:latin typeface="Aptos"/>
              </a:rPr>
              <a:t>CAMERA HEIGHT 1.75 M</a:t>
            </a:r>
          </a:p>
          <a:p>
            <a:pPr>
              <a:spcAft>
                <a:spcPts val="600"/>
              </a:spcAft>
            </a:pPr>
            <a:r>
              <a:rPr sz="1100">
                <a:solidFill>
                  <a:srgbClr val="55606B"/>
                </a:solidFill>
                <a:latin typeface="Aptos"/>
              </a:rPr>
              <a:t>▪  Every distance scales linearly with it</a:t>
            </a:r>
          </a:p>
          <a:p>
            <a:pPr>
              <a:spcAft>
                <a:spcPts val="600"/>
              </a:spcAft>
            </a:pPr>
            <a:r>
              <a:rPr sz="1100">
                <a:solidFill>
                  <a:srgbClr val="55606B"/>
                </a:solidFill>
                <a:latin typeface="Aptos"/>
              </a:rPr>
              <a:t>▪  One known width removes it entirely</a:t>
            </a:r>
          </a:p>
        </p:txBody>
      </p:sp>
      <p:sp>
        <p:nvSpPr>
          <p:cNvPr id="5" name="Rectangle 4"/>
          <p:cNvSpPr/>
          <p:nvPr/>
        </p:nvSpPr>
        <p:spPr>
          <a:xfrm>
            <a:off x="475488" y="1572768"/>
            <a:ext cx="68580" cy="1536192"/>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67456" y="1554480"/>
            <a:ext cx="2645664" cy="157276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Unvalidatable interior</a:t>
            </a:r>
          </a:p>
          <a:p>
            <a:pPr>
              <a:spcAft>
                <a:spcPts val="800"/>
              </a:spcAft>
            </a:pPr>
            <a:r>
              <a:rPr sz="850" b="1">
                <a:solidFill>
                  <a:srgbClr val="1668C0"/>
                </a:solidFill>
                <a:latin typeface="Aptos"/>
              </a:rPr>
              <a:t>NO GROUND TRUTH EXISTS</a:t>
            </a:r>
          </a:p>
          <a:p>
            <a:pPr>
              <a:spcAft>
                <a:spcPts val="600"/>
              </a:spcAft>
            </a:pPr>
            <a:r>
              <a:rPr sz="1100">
                <a:solidFill>
                  <a:srgbClr val="55606B"/>
                </a:solidFill>
                <a:latin typeface="Aptos"/>
              </a:rPr>
              <a:t>▪  Carriageway extent is validated</a:t>
            </a:r>
          </a:p>
          <a:p>
            <a:pPr>
              <a:spcAft>
                <a:spcPts val="600"/>
              </a:spcAft>
            </a:pPr>
            <a:r>
              <a:rPr sz="1100">
                <a:solidFill>
                  <a:srgbClr val="55606B"/>
                </a:solidFill>
                <a:latin typeface="Aptos"/>
              </a:rPr>
              <a:t>▪  The divisions inside it cannot be</a:t>
            </a:r>
          </a:p>
        </p:txBody>
      </p:sp>
      <p:sp>
        <p:nvSpPr>
          <p:cNvPr id="7" name="Rectangle 6"/>
          <p:cNvSpPr/>
          <p:nvPr/>
        </p:nvSpPr>
        <p:spPr>
          <a:xfrm>
            <a:off x="3267456" y="1572768"/>
            <a:ext cx="68580" cy="15361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59424" y="1554480"/>
            <a:ext cx="2645664" cy="157276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Half the data unused</a:t>
            </a:r>
          </a:p>
          <a:p>
            <a:pPr>
              <a:spcAft>
                <a:spcPts val="800"/>
              </a:spcAft>
            </a:pPr>
            <a:r>
              <a:rPr sz="850" b="1">
                <a:solidFill>
                  <a:srgbClr val="1668C0"/>
                </a:solidFill>
                <a:latin typeface="Aptos"/>
              </a:rPr>
              <a:t>A PREPARATION BUG</a:t>
            </a:r>
          </a:p>
          <a:p>
            <a:pPr>
              <a:spcAft>
                <a:spcPts val="600"/>
              </a:spcAft>
            </a:pPr>
            <a:r>
              <a:rPr sz="1100">
                <a:solidFill>
                  <a:srgbClr val="55606B"/>
                </a:solidFill>
                <a:latin typeface="Aptos"/>
              </a:rPr>
              <a:t>▪  Part II of IDD-20k was downloaded and never merged</a:t>
            </a:r>
          </a:p>
          <a:p>
            <a:pPr>
              <a:spcAft>
                <a:spcPts val="600"/>
              </a:spcAft>
            </a:pPr>
            <a:r>
              <a:rPr sz="1100">
                <a:solidFill>
                  <a:srgbClr val="55606B"/>
                </a:solidFill>
                <a:latin typeface="Aptos"/>
              </a:rPr>
              <a:t>▪  6,993 of about 14,000 frames</a:t>
            </a:r>
          </a:p>
        </p:txBody>
      </p:sp>
      <p:sp>
        <p:nvSpPr>
          <p:cNvPr id="9" name="Rectangle 8"/>
          <p:cNvSpPr/>
          <p:nvPr/>
        </p:nvSpPr>
        <p:spPr>
          <a:xfrm>
            <a:off x="6059424" y="1572768"/>
            <a:ext cx="68580" cy="1536192"/>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5488" y="3282696"/>
            <a:ext cx="2645664" cy="157276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Low light, wide angle</a:t>
            </a:r>
          </a:p>
          <a:p>
            <a:pPr>
              <a:spcAft>
                <a:spcPts val="800"/>
              </a:spcAft>
            </a:pPr>
            <a:r>
              <a:rPr sz="850" b="1">
                <a:solidFill>
                  <a:srgbClr val="1668C0"/>
                </a:solidFill>
                <a:latin typeface="Aptos"/>
              </a:rPr>
              <a:t>OUT OF DISTRIBUTION</a:t>
            </a:r>
          </a:p>
          <a:p>
            <a:pPr>
              <a:spcAft>
                <a:spcPts val="600"/>
              </a:spcAft>
            </a:pPr>
            <a:r>
              <a:rPr sz="1100">
                <a:solidFill>
                  <a:srgbClr val="55606B"/>
                </a:solidFill>
                <a:latin typeface="Aptos"/>
              </a:rPr>
              <a:t>▪  Trained on daylight, normal-lens footage</a:t>
            </a:r>
          </a:p>
        </p:txBody>
      </p:sp>
      <p:sp>
        <p:nvSpPr>
          <p:cNvPr id="11" name="Rectangle 10"/>
          <p:cNvSpPr/>
          <p:nvPr/>
        </p:nvSpPr>
        <p:spPr>
          <a:xfrm>
            <a:off x="475488" y="3300984"/>
            <a:ext cx="68580" cy="15361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67456" y="3282696"/>
            <a:ext cx="2645664" cy="157276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One run, one seed</a:t>
            </a:r>
          </a:p>
          <a:p>
            <a:pPr>
              <a:spcAft>
                <a:spcPts val="800"/>
              </a:spcAft>
            </a:pPr>
            <a:r>
              <a:rPr sz="850" b="1">
                <a:solidFill>
                  <a:srgbClr val="1668C0"/>
                </a:solidFill>
                <a:latin typeface="Aptos"/>
              </a:rPr>
              <a:t>NO INTERVALS</a:t>
            </a:r>
          </a:p>
          <a:p>
            <a:pPr>
              <a:spcAft>
                <a:spcPts val="600"/>
              </a:spcAft>
            </a:pPr>
            <a:r>
              <a:rPr sz="1100">
                <a:solidFill>
                  <a:srgbClr val="55606B"/>
                </a:solidFill>
                <a:latin typeface="Aptos"/>
              </a:rPr>
              <a:t>▪  Small differences between configurations are not significant</a:t>
            </a:r>
          </a:p>
        </p:txBody>
      </p:sp>
      <p:sp>
        <p:nvSpPr>
          <p:cNvPr id="13" name="Rectangle 12"/>
          <p:cNvSpPr/>
          <p:nvPr/>
        </p:nvSpPr>
        <p:spPr>
          <a:xfrm>
            <a:off x="3267456" y="3300984"/>
            <a:ext cx="68580" cy="1536192"/>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59424" y="3282696"/>
            <a:ext cx="2645664" cy="1572768"/>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Optimistic epoch choice</a:t>
            </a:r>
          </a:p>
          <a:p>
            <a:pPr>
              <a:spcAft>
                <a:spcPts val="800"/>
              </a:spcAft>
            </a:pPr>
            <a:r>
              <a:rPr sz="850" b="1">
                <a:solidFill>
                  <a:srgbClr val="1668C0"/>
                </a:solidFill>
                <a:latin typeface="Aptos"/>
              </a:rPr>
              <a:t>VALIDATION ONLY</a:t>
            </a:r>
          </a:p>
          <a:p>
            <a:pPr>
              <a:spcAft>
                <a:spcPts val="600"/>
              </a:spcAft>
            </a:pPr>
            <a:r>
              <a:rPr sz="1100">
                <a:solidFill>
                  <a:srgbClr val="55606B"/>
                </a:solidFill>
                <a:latin typeface="Aptos"/>
              </a:rPr>
              <a:t>▪  Best epoch picked on the split it is reported on, since the test split is unlabelled</a:t>
            </a:r>
          </a:p>
        </p:txBody>
      </p:sp>
      <p:sp>
        <p:nvSpPr>
          <p:cNvPr id="15" name="Rectangle 14"/>
          <p:cNvSpPr/>
          <p:nvPr/>
        </p:nvSpPr>
        <p:spPr>
          <a:xfrm>
            <a:off x="6059424" y="3300984"/>
            <a:ext cx="68580" cy="15361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5488" y="5010912"/>
            <a:ext cx="8229600" cy="1161288"/>
          </a:xfrm>
          <a:prstGeom prst="roundRect">
            <a:avLst>
              <a:gd name="adj" fmla="val 5000"/>
            </a:avLst>
          </a:prstGeom>
          <a:solidFill>
            <a:srgbClr val="F4F6FA"/>
          </a:solidFill>
          <a:ln w="762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129784"/>
            <a:ext cx="7863840" cy="201168"/>
          </a:xfrm>
          <a:prstGeom prst="rect">
            <a:avLst/>
          </a:prstGeom>
          <a:noFill/>
        </p:spPr>
        <p:txBody>
          <a:bodyPr wrap="none" lIns="0" tIns="0" bIns="0">
            <a:spAutoFit/>
          </a:bodyPr>
          <a:lstStyle/>
          <a:p>
            <a:r>
              <a:rPr sz="850" b="1">
                <a:solidFill>
                  <a:srgbClr val="6E6E6E"/>
                </a:solidFill>
                <a:latin typeface="Aptos"/>
              </a:rPr>
              <a:t>ALSO OUTSTANDING</a:t>
            </a:r>
          </a:p>
        </p:txBody>
      </p:sp>
      <p:sp>
        <p:nvSpPr>
          <p:cNvPr id="18" name="Rounded Rectangle 17"/>
          <p:cNvSpPr/>
          <p:nvPr/>
        </p:nvSpPr>
        <p:spPr>
          <a:xfrm>
            <a:off x="658368" y="5394960"/>
            <a:ext cx="179222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ego lane unvalidated</a:t>
            </a:r>
          </a:p>
        </p:txBody>
      </p:sp>
      <p:sp>
        <p:nvSpPr>
          <p:cNvPr id="19" name="Rounded Rectangle 18"/>
          <p:cNvSpPr/>
          <p:nvPr/>
        </p:nvSpPr>
        <p:spPr>
          <a:xfrm>
            <a:off x="2532888" y="5394960"/>
            <a:ext cx="256946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road-user distance unvalidated</a:t>
            </a:r>
          </a:p>
        </p:txBody>
      </p:sp>
      <p:sp>
        <p:nvSpPr>
          <p:cNvPr id="20" name="Rounded Rectangle 19"/>
          <p:cNvSpPr/>
          <p:nvPr/>
        </p:nvSpPr>
        <p:spPr>
          <a:xfrm>
            <a:off x="5184648" y="5394960"/>
            <a:ext cx="295808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wrong-side detection off by default</a:t>
            </a:r>
          </a:p>
        </p:txBody>
      </p:sp>
      <p:sp>
        <p:nvSpPr>
          <p:cNvPr id="21" name="Rounded Rectangle 20"/>
          <p:cNvSpPr/>
          <p:nvPr/>
        </p:nvSpPr>
        <p:spPr>
          <a:xfrm>
            <a:off x="658368" y="5751576"/>
            <a:ext cx="256946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narrow-road divisor to confirm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Conclusion &amp; Future Work</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The idea holds, and it is now measurable rather than plausible.</a:t>
            </a:r>
          </a:p>
        </p:txBody>
      </p:sp>
      <p:sp>
        <p:nvSpPr>
          <p:cNvPr id="4" name="Rounded Rectangle 3"/>
          <p:cNvSpPr/>
          <p:nvPr/>
        </p:nvSpPr>
        <p:spPr>
          <a:xfrm>
            <a:off x="475488" y="1554480"/>
            <a:ext cx="4041648" cy="278892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Conclusion</a:t>
            </a:r>
          </a:p>
          <a:p>
            <a:pPr>
              <a:spcAft>
                <a:spcPts val="800"/>
              </a:spcAft>
            </a:pPr>
            <a:r>
              <a:rPr sz="850" b="1">
                <a:solidFill>
                  <a:srgbClr val="1668C0"/>
                </a:solidFill>
                <a:latin typeface="Aptos"/>
              </a:rPr>
              <a:t>WHAT WAS SHOWN</a:t>
            </a:r>
          </a:p>
          <a:p>
            <a:pPr>
              <a:spcAft>
                <a:spcPts val="600"/>
              </a:spcAft>
            </a:pPr>
            <a:r>
              <a:rPr sz="1100">
                <a:solidFill>
                  <a:srgbClr val="55606B"/>
                </a:solidFill>
                <a:latin typeface="Aptos"/>
              </a:rPr>
              <a:t>▪  Lane structure can be inferred from road geometry where no paint exists</a:t>
            </a:r>
          </a:p>
          <a:p>
            <a:pPr>
              <a:spcAft>
                <a:spcPts val="600"/>
              </a:spcAft>
            </a:pPr>
            <a:r>
              <a:rPr sz="1100">
                <a:solidFill>
                  <a:srgbClr val="55606B"/>
                </a:solidFill>
                <a:latin typeface="Aptos"/>
              </a:rPr>
              <a:t>▪  0.9310 drivable IoU deployed, 165 of 204 frames solved, 0.31 m median edge error, 27 fps</a:t>
            </a:r>
          </a:p>
          <a:p>
            <a:pPr>
              <a:spcAft>
                <a:spcPts val="600"/>
              </a:spcAft>
            </a:pPr>
            <a:r>
              <a:rPr sz="1100">
                <a:solidFill>
                  <a:srgbClr val="55606B"/>
                </a:solidFill>
                <a:latin typeface="Aptos"/>
              </a:rPr>
              <a:t>▪  The harness and its trivial baselines are what made every other result interpretable</a:t>
            </a:r>
          </a:p>
        </p:txBody>
      </p:sp>
      <p:sp>
        <p:nvSpPr>
          <p:cNvPr id="5" name="Rectangle 4"/>
          <p:cNvSpPr/>
          <p:nvPr/>
        </p:nvSpPr>
        <p:spPr>
          <a:xfrm>
            <a:off x="475488" y="1572768"/>
            <a:ext cx="68580" cy="275234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63440" y="1554480"/>
            <a:ext cx="4041648" cy="278892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Future work</a:t>
            </a:r>
          </a:p>
          <a:p>
            <a:pPr>
              <a:spcAft>
                <a:spcPts val="800"/>
              </a:spcAft>
            </a:pPr>
            <a:r>
              <a:rPr sz="850" b="1">
                <a:solidFill>
                  <a:srgbClr val="1668C0"/>
                </a:solidFill>
                <a:latin typeface="Aptos"/>
              </a:rPr>
              <a:t>IN ORDER OF VALUE</a:t>
            </a:r>
          </a:p>
          <a:p>
            <a:pPr>
              <a:spcAft>
                <a:spcPts val="600"/>
              </a:spcAft>
            </a:pPr>
            <a:r>
              <a:rPr sz="1100">
                <a:solidFill>
                  <a:srgbClr val="55606B"/>
                </a:solidFill>
                <a:latin typeface="Aptos"/>
              </a:rPr>
              <a:t>▪  Merge Part II of IDD-20k and retrain</a:t>
            </a:r>
          </a:p>
          <a:p>
            <a:pPr>
              <a:spcAft>
                <a:spcPts val="600"/>
              </a:spcAft>
            </a:pPr>
            <a:r>
              <a:rPr sz="1100">
                <a:solidFill>
                  <a:srgbClr val="55606B"/>
                </a:solidFill>
                <a:latin typeface="Aptos"/>
              </a:rPr>
              <a:t>▪  Train on IDD-AW for low light and adverse weather</a:t>
            </a:r>
          </a:p>
          <a:p>
            <a:pPr>
              <a:spcAft>
                <a:spcPts val="600"/>
              </a:spcAft>
            </a:pPr>
            <a:r>
              <a:rPr sz="1100">
                <a:solidFill>
                  <a:srgbClr val="55606B"/>
                </a:solidFill>
                <a:latin typeface="Aptos"/>
              </a:rPr>
              <a:t>▪  Retrain at 384 by 640 for thin markings</a:t>
            </a:r>
          </a:p>
          <a:p>
            <a:pPr>
              <a:spcAft>
                <a:spcPts val="600"/>
              </a:spcAft>
            </a:pPr>
            <a:r>
              <a:rPr sz="1100">
                <a:solidFill>
                  <a:srgbClr val="55606B"/>
                </a:solidFill>
                <a:latin typeface="Aptos"/>
              </a:rPr>
              <a:t>▪  Validate ego lane and road-user distances</a:t>
            </a:r>
          </a:p>
          <a:p>
            <a:pPr>
              <a:spcAft>
                <a:spcPts val="600"/>
              </a:spcAft>
            </a:pPr>
            <a:r>
              <a:rPr sz="1100">
                <a:solidFill>
                  <a:srgbClr val="55606B"/>
                </a:solidFill>
                <a:latin typeface="Aptos"/>
              </a:rPr>
              <a:t>▪  Confirm the narrow-road divisor against the standard</a:t>
            </a:r>
          </a:p>
        </p:txBody>
      </p:sp>
      <p:sp>
        <p:nvSpPr>
          <p:cNvPr id="7" name="Rectangle 6"/>
          <p:cNvSpPr/>
          <p:nvPr/>
        </p:nvSpPr>
        <p:spPr>
          <a:xfrm>
            <a:off x="4663440" y="1572768"/>
            <a:ext cx="68580" cy="275234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75488" y="4498848"/>
            <a:ext cx="2606040" cy="109728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4</a:t>
            </a:r>
          </a:p>
          <a:p>
            <a:pPr algn="ctr"/>
            <a:r>
              <a:rPr sz="950">
                <a:solidFill>
                  <a:srgbClr val="6E6E6E"/>
                </a:solidFill>
                <a:latin typeface="Aptos"/>
              </a:rPr>
              <a:t>hypotheses tested and rejected</a:t>
            </a:r>
          </a:p>
        </p:txBody>
      </p:sp>
      <p:sp>
        <p:nvSpPr>
          <p:cNvPr id="9" name="Rectangle 8"/>
          <p:cNvSpPr/>
          <p:nvPr/>
        </p:nvSpPr>
        <p:spPr>
          <a:xfrm>
            <a:off x="493776" y="4498848"/>
            <a:ext cx="2569464"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4498848"/>
            <a:ext cx="2606040" cy="109728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3</a:t>
            </a:r>
          </a:p>
          <a:p>
            <a:pPr algn="ctr"/>
            <a:r>
              <a:rPr sz="950">
                <a:solidFill>
                  <a:srgbClr val="6E6E6E"/>
                </a:solidFill>
                <a:latin typeface="Aptos"/>
              </a:rPr>
              <a:t>earlier claims reversed</a:t>
            </a:r>
          </a:p>
        </p:txBody>
      </p:sp>
      <p:sp>
        <p:nvSpPr>
          <p:cNvPr id="11" name="Rectangle 10"/>
          <p:cNvSpPr/>
          <p:nvPr/>
        </p:nvSpPr>
        <p:spPr>
          <a:xfrm>
            <a:off x="3310128" y="4498848"/>
            <a:ext cx="2569464"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99048" y="4498848"/>
            <a:ext cx="2606040" cy="1097280"/>
          </a:xfrm>
          <a:prstGeom prst="roundRect">
            <a:avLst>
              <a:gd name="adj" fmla="val 50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tIns="146304" bIns="91440"/>
          <a:lstStyle/>
          <a:p>
            <a:pPr algn="ctr">
              <a:spcAft>
                <a:spcPts val="400"/>
              </a:spcAft>
            </a:pPr>
            <a:r>
              <a:rPr sz="2600" b="1">
                <a:solidFill>
                  <a:srgbClr val="0A2E6E"/>
                </a:solidFill>
                <a:latin typeface="Aptos Display"/>
              </a:rPr>
              <a:t>20</a:t>
            </a:r>
          </a:p>
          <a:p>
            <a:pPr algn="ctr"/>
            <a:r>
              <a:rPr sz="950">
                <a:solidFill>
                  <a:srgbClr val="6E6E6E"/>
                </a:solidFill>
                <a:latin typeface="Aptos"/>
              </a:rPr>
              <a:t>figures, all from source</a:t>
            </a:r>
          </a:p>
        </p:txBody>
      </p:sp>
      <p:sp>
        <p:nvSpPr>
          <p:cNvPr id="13" name="Rectangle 12"/>
          <p:cNvSpPr/>
          <p:nvPr/>
        </p:nvSpPr>
        <p:spPr>
          <a:xfrm>
            <a:off x="6117336" y="4498848"/>
            <a:ext cx="2569464" cy="50292"/>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System Architecture</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Four tiers. Everything inside the dashed box is one process.</a:t>
            </a:r>
          </a:p>
        </p:txBody>
      </p:sp>
      <p:pic>
        <p:nvPicPr>
          <p:cNvPr id="4" name="Picture 3" descr="fig01_architecture.png"/>
          <p:cNvPicPr>
            <a:picLocks noChangeAspect="1"/>
          </p:cNvPicPr>
          <p:nvPr/>
        </p:nvPicPr>
        <p:blipFill>
          <a:blip r:embed="rId2"/>
          <a:stretch>
            <a:fillRect/>
          </a:stretch>
        </p:blipFill>
        <p:spPr>
          <a:xfrm>
            <a:off x="617862" y="1554480"/>
            <a:ext cx="7944852" cy="4800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End-to-End Process Flow</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Ten stages, including the path where the system declines to answer.</a:t>
            </a:r>
          </a:p>
        </p:txBody>
      </p:sp>
      <p:pic>
        <p:nvPicPr>
          <p:cNvPr id="4" name="Picture 3" descr="fig04_pipeline_flow.png"/>
          <p:cNvPicPr>
            <a:picLocks noChangeAspect="1"/>
          </p:cNvPicPr>
          <p:nvPr/>
        </p:nvPicPr>
        <p:blipFill>
          <a:blip r:embed="rId2"/>
          <a:stretch>
            <a:fillRect/>
          </a:stretch>
        </p:blipFill>
        <p:spPr>
          <a:xfrm>
            <a:off x="492038" y="1554480"/>
            <a:ext cx="8196499" cy="4800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Metric Scale, No Calibration</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The dataset ships no camera metadata. It turns out not to need any.</a:t>
            </a:r>
          </a:p>
        </p:txBody>
      </p:sp>
      <p:sp>
        <p:nvSpPr>
          <p:cNvPr id="4" name="Rounded Rectangle 3"/>
          <p:cNvSpPr/>
          <p:nvPr/>
        </p:nvSpPr>
        <p:spPr>
          <a:xfrm>
            <a:off x="475488" y="1554480"/>
            <a:ext cx="8229600" cy="100584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dX  =  du · H / (v − v_horizon)</a:t>
            </a:r>
          </a:p>
          <a:p>
            <a:pPr>
              <a:spcAft>
                <a:spcPts val="500"/>
              </a:spcAft>
            </a:pPr>
            <a:r>
              <a:rPr sz="1150">
                <a:solidFill>
                  <a:srgbClr val="D8E0EC"/>
                </a:solidFill>
                <a:latin typeface="Aptos"/>
              </a:rPr>
              <a:t>Lateral ground scale from image row alone. The focal length cancels.</a:t>
            </a:r>
          </a:p>
        </p:txBody>
      </p:sp>
      <p:sp>
        <p:nvSpPr>
          <p:cNvPr id="5" name="Rounded Rectangle 4"/>
          <p:cNvSpPr/>
          <p:nvPr/>
        </p:nvSpPr>
        <p:spPr>
          <a:xfrm>
            <a:off x="475488" y="2715768"/>
            <a:ext cx="2645664" cy="15544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Pitch is measured</a:t>
            </a:r>
          </a:p>
          <a:p>
            <a:pPr>
              <a:spcAft>
                <a:spcPts val="800"/>
              </a:spcAft>
            </a:pPr>
            <a:r>
              <a:rPr sz="850" b="1">
                <a:solidFill>
                  <a:srgbClr val="1668C0"/>
                </a:solidFill>
                <a:latin typeface="Aptos"/>
              </a:rPr>
              <a:t>NOT ASSUMED</a:t>
            </a:r>
          </a:p>
          <a:p>
            <a:pPr>
              <a:spcAft>
                <a:spcPts val="600"/>
              </a:spcAft>
            </a:pPr>
            <a:r>
              <a:rPr sz="1100">
                <a:solidFill>
                  <a:srgbClr val="55606B"/>
                </a:solidFill>
                <a:latin typeface="Aptos"/>
              </a:rPr>
              <a:t>▪  Recovered per frame from the vanishing point row</a:t>
            </a:r>
          </a:p>
        </p:txBody>
      </p:sp>
      <p:sp>
        <p:nvSpPr>
          <p:cNvPr id="6" name="Rectangle 5"/>
          <p:cNvSpPr/>
          <p:nvPr/>
        </p:nvSpPr>
        <p:spPr>
          <a:xfrm>
            <a:off x="475488" y="2734056"/>
            <a:ext cx="68580" cy="151790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67456" y="2715768"/>
            <a:ext cx="2645664" cy="15544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Why it cancels</a:t>
            </a:r>
          </a:p>
          <a:p>
            <a:pPr>
              <a:spcAft>
                <a:spcPts val="800"/>
              </a:spcAft>
            </a:pPr>
            <a:r>
              <a:rPr sz="850" b="1">
                <a:solidFill>
                  <a:srgbClr val="1668C0"/>
                </a:solidFill>
                <a:latin typeface="Aptos"/>
              </a:rPr>
              <a:t>THE HORIZON CARRIES IT</a:t>
            </a:r>
          </a:p>
          <a:p>
            <a:pPr>
              <a:spcAft>
                <a:spcPts val="600"/>
              </a:spcAft>
            </a:pPr>
            <a:r>
              <a:rPr sz="1100">
                <a:solidFill>
                  <a:srgbClr val="55606B"/>
                </a:solidFill>
                <a:latin typeface="Aptos"/>
              </a:rPr>
              <a:t>▪  The horizon row already encodes f·tan(θ), the same product that sets ground scale</a:t>
            </a:r>
          </a:p>
        </p:txBody>
      </p:sp>
      <p:sp>
        <p:nvSpPr>
          <p:cNvPr id="8" name="Rectangle 7"/>
          <p:cNvSpPr/>
          <p:nvPr/>
        </p:nvSpPr>
        <p:spPr>
          <a:xfrm>
            <a:off x="3267456" y="2734056"/>
            <a:ext cx="68580" cy="151790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59424" y="2715768"/>
            <a:ext cx="2645664" cy="15544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What is left</a:t>
            </a:r>
          </a:p>
          <a:p>
            <a:pPr>
              <a:spcAft>
                <a:spcPts val="800"/>
              </a:spcAft>
            </a:pPr>
            <a:r>
              <a:rPr sz="850" b="1">
                <a:solidFill>
                  <a:srgbClr val="1668C0"/>
                </a:solidFill>
                <a:latin typeface="Aptos"/>
              </a:rPr>
              <a:t>ONE ASSUMPTION</a:t>
            </a:r>
          </a:p>
          <a:p>
            <a:pPr>
              <a:spcAft>
                <a:spcPts val="600"/>
              </a:spcAft>
            </a:pPr>
            <a:r>
              <a:rPr sz="1100">
                <a:solidFill>
                  <a:srgbClr val="55606B"/>
                </a:solidFill>
                <a:latin typeface="Aptos"/>
              </a:rPr>
              <a:t>▪  Lateral scale moves 1.0% across a 40° to 140° sweep. Only camera height remains</a:t>
            </a:r>
          </a:p>
        </p:txBody>
      </p:sp>
      <p:sp>
        <p:nvSpPr>
          <p:cNvPr id="10" name="Rectangle 9"/>
          <p:cNvSpPr/>
          <p:nvPr/>
        </p:nvSpPr>
        <p:spPr>
          <a:xfrm>
            <a:off x="6059424" y="2734056"/>
            <a:ext cx="68580" cy="151790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5488" y="4425696"/>
            <a:ext cx="8229600" cy="1097280"/>
          </a:xfrm>
          <a:prstGeom prst="roundRect">
            <a:avLst>
              <a:gd name="adj" fmla="val 5000"/>
            </a:avLst>
          </a:prstGeom>
          <a:solidFill>
            <a:srgbClr val="F4F6FA"/>
          </a:solidFill>
          <a:ln w="762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544568"/>
            <a:ext cx="7863840" cy="201168"/>
          </a:xfrm>
          <a:prstGeom prst="rect">
            <a:avLst/>
          </a:prstGeom>
          <a:noFill/>
        </p:spPr>
        <p:txBody>
          <a:bodyPr wrap="none" lIns="0" tIns="0" bIns="0">
            <a:spAutoFit/>
          </a:bodyPr>
          <a:lstStyle/>
          <a:p>
            <a:r>
              <a:rPr sz="850" b="1">
                <a:solidFill>
                  <a:srgbClr val="6E6E6E"/>
                </a:solidFill>
                <a:latin typeface="Aptos"/>
              </a:rPr>
              <a:t>HOW IT IS RECOVERED</a:t>
            </a:r>
          </a:p>
        </p:txBody>
      </p:sp>
      <p:sp>
        <p:nvSpPr>
          <p:cNvPr id="13" name="Rounded Rectangle 12"/>
          <p:cNvSpPr/>
          <p:nvPr/>
        </p:nvSpPr>
        <p:spPr>
          <a:xfrm>
            <a:off x="658368" y="4809744"/>
            <a:ext cx="233629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Inverse perspective mapping</a:t>
            </a:r>
          </a:p>
        </p:txBody>
      </p:sp>
      <p:sp>
        <p:nvSpPr>
          <p:cNvPr id="14" name="Rounded Rectangle 13"/>
          <p:cNvSpPr/>
          <p:nvPr/>
        </p:nvSpPr>
        <p:spPr>
          <a:xfrm>
            <a:off x="3076956" y="4809744"/>
            <a:ext cx="140360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Vanishing point</a:t>
            </a:r>
          </a:p>
        </p:txBody>
      </p:sp>
      <p:sp>
        <p:nvSpPr>
          <p:cNvPr id="15" name="Rounded Rectangle 14"/>
          <p:cNvSpPr/>
          <p:nvPr/>
        </p:nvSpPr>
        <p:spPr>
          <a:xfrm>
            <a:off x="4562856" y="4809744"/>
            <a:ext cx="101498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Pitch ±15°</a:t>
            </a:r>
          </a:p>
        </p:txBody>
      </p:sp>
      <p:sp>
        <p:nvSpPr>
          <p:cNvPr id="16" name="Rounded Rectangle 15"/>
          <p:cNvSpPr/>
          <p:nvPr/>
        </p:nvSpPr>
        <p:spPr>
          <a:xfrm>
            <a:off x="5660136" y="4809744"/>
            <a:ext cx="2103120"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First-order error &lt;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Focal Length Cancels</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Rebuilding the transform across a hundred degrees of assumed field of view.</a:t>
            </a:r>
          </a:p>
        </p:txBody>
      </p:sp>
      <p:pic>
        <p:nvPicPr>
          <p:cNvPr id="4" name="Picture 3" descr="fig13_fov.png"/>
          <p:cNvPicPr>
            <a:picLocks noChangeAspect="1"/>
          </p:cNvPicPr>
          <p:nvPr/>
        </p:nvPicPr>
        <p:blipFill>
          <a:blip r:embed="rId2"/>
          <a:stretch>
            <a:fillRect/>
          </a:stretch>
        </p:blipFill>
        <p:spPr>
          <a:xfrm>
            <a:off x="475488" y="1554480"/>
            <a:ext cx="8229600" cy="318148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From Width to Lane Count</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A published design width applied to a measurement, not an arbitrary split.</a:t>
            </a:r>
          </a:p>
        </p:txBody>
      </p:sp>
      <p:sp>
        <p:nvSpPr>
          <p:cNvPr id="4" name="Rounded Rectangle 3"/>
          <p:cNvSpPr/>
          <p:nvPr/>
        </p:nvSpPr>
        <p:spPr>
          <a:xfrm>
            <a:off x="475488" y="1554480"/>
            <a:ext cx="8229600" cy="86868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n  =  round( W / w )</a:t>
            </a:r>
          </a:p>
          <a:p>
            <a:pPr>
              <a:spcAft>
                <a:spcPts val="500"/>
              </a:spcAft>
            </a:pPr>
            <a:r>
              <a:rPr sz="1150">
                <a:solidFill>
                  <a:srgbClr val="D8E0EC"/>
                </a:solidFill>
                <a:latin typeface="Aptos"/>
              </a:rPr>
              <a:t>W is the measured carriageway in metres, w the design lane width.</a:t>
            </a:r>
          </a:p>
        </p:txBody>
      </p:sp>
      <p:sp>
        <p:nvSpPr>
          <p:cNvPr id="5" name="Rounded Rectangle 4"/>
          <p:cNvSpPr/>
          <p:nvPr/>
        </p:nvSpPr>
        <p:spPr>
          <a:xfrm>
            <a:off x="475488" y="2578608"/>
            <a:ext cx="4041648" cy="17830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Choosing w</a:t>
            </a:r>
          </a:p>
          <a:p>
            <a:pPr>
              <a:spcAft>
                <a:spcPts val="800"/>
              </a:spcAft>
            </a:pPr>
            <a:r>
              <a:rPr sz="850" b="1">
                <a:solidFill>
                  <a:srgbClr val="1668C0"/>
                </a:solidFill>
                <a:latin typeface="Aptos"/>
              </a:rPr>
              <a:t>A THRESHOLD ON WIDTH</a:t>
            </a:r>
          </a:p>
          <a:p>
            <a:pPr>
              <a:spcAft>
                <a:spcPts val="600"/>
              </a:spcAft>
            </a:pPr>
            <a:r>
              <a:rPr sz="1100">
                <a:solidFill>
                  <a:srgbClr val="55606B"/>
                </a:solidFill>
                <a:latin typeface="Aptos"/>
              </a:rPr>
              <a:t>▪  3.50 m when the carriageway is 6.0 m or wider</a:t>
            </a:r>
          </a:p>
          <a:p>
            <a:pPr>
              <a:spcAft>
                <a:spcPts val="600"/>
              </a:spcAft>
            </a:pPr>
            <a:r>
              <a:rPr sz="1100">
                <a:solidFill>
                  <a:srgbClr val="55606B"/>
                </a:solidFill>
                <a:latin typeface="Aptos"/>
              </a:rPr>
              <a:t>▪  3.00 m below that</a:t>
            </a:r>
          </a:p>
          <a:p>
            <a:pPr>
              <a:spcAft>
                <a:spcPts val="600"/>
              </a:spcAft>
            </a:pPr>
            <a:r>
              <a:rPr sz="1100">
                <a:solidFill>
                  <a:srgbClr val="55606B"/>
                </a:solidFill>
                <a:latin typeface="Aptos"/>
              </a:rPr>
              <a:t>▪  A rule about width, not a judgement about the road</a:t>
            </a:r>
          </a:p>
        </p:txBody>
      </p:sp>
      <p:sp>
        <p:nvSpPr>
          <p:cNvPr id="6" name="Rectangle 5"/>
          <p:cNvSpPr/>
          <p:nvPr/>
        </p:nvSpPr>
        <p:spPr>
          <a:xfrm>
            <a:off x="475488" y="2596896"/>
            <a:ext cx="68580" cy="174650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663440" y="2578608"/>
            <a:ext cx="4041648" cy="17830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A floor at 2.5 m</a:t>
            </a:r>
          </a:p>
          <a:p>
            <a:pPr>
              <a:spcAft>
                <a:spcPts val="800"/>
              </a:spcAft>
            </a:pPr>
            <a:r>
              <a:rPr sz="850" b="1">
                <a:solidFill>
                  <a:srgbClr val="1668C0"/>
                </a:solidFill>
                <a:latin typeface="Aptos"/>
              </a:rPr>
              <a:t>AND A REFUSAL</a:t>
            </a:r>
          </a:p>
          <a:p>
            <a:pPr>
              <a:spcAft>
                <a:spcPts val="600"/>
              </a:spcAft>
            </a:pPr>
            <a:r>
              <a:rPr sz="1100">
                <a:solidFill>
                  <a:srgbClr val="55606B"/>
                </a:solidFill>
                <a:latin typeface="Aptos"/>
              </a:rPr>
              <a:t>▪  If the division gives narrower lanes, the count drops</a:t>
            </a:r>
          </a:p>
          <a:p>
            <a:pPr>
              <a:spcAft>
                <a:spcPts val="600"/>
              </a:spcAft>
            </a:pPr>
            <a:r>
              <a:rPr sz="1100">
                <a:solidFill>
                  <a:srgbClr val="55606B"/>
                </a:solidFill>
                <a:latin typeface="Aptos"/>
              </a:rPr>
              <a:t>▪  If even one lane falls below the floor, the frame is refused</a:t>
            </a:r>
          </a:p>
          <a:p>
            <a:pPr>
              <a:spcAft>
                <a:spcPts val="600"/>
              </a:spcAft>
            </a:pPr>
            <a:r>
              <a:rPr sz="1100">
                <a:solidFill>
                  <a:srgbClr val="55606B"/>
                </a:solidFill>
                <a:latin typeface="Aptos"/>
              </a:rPr>
              <a:t>▪  That is the largest single refusal cause</a:t>
            </a:r>
          </a:p>
        </p:txBody>
      </p:sp>
      <p:sp>
        <p:nvSpPr>
          <p:cNvPr id="8" name="Rectangle 7"/>
          <p:cNvSpPr/>
          <p:nvPr/>
        </p:nvSpPr>
        <p:spPr>
          <a:xfrm>
            <a:off x="4663440" y="2596896"/>
            <a:ext cx="68580" cy="174650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5488" y="4517136"/>
            <a:ext cx="8229600" cy="1161288"/>
          </a:xfrm>
          <a:prstGeom prst="roundRect">
            <a:avLst>
              <a:gd name="adj" fmla="val 5000"/>
            </a:avLst>
          </a:prstGeom>
          <a:solidFill>
            <a:srgbClr val="F4F6FA"/>
          </a:solidFill>
          <a:ln w="762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36008"/>
            <a:ext cx="7863840" cy="201168"/>
          </a:xfrm>
          <a:prstGeom prst="rect">
            <a:avLst/>
          </a:prstGeom>
          <a:noFill/>
        </p:spPr>
        <p:txBody>
          <a:bodyPr wrap="none" lIns="0" tIns="0" bIns="0">
            <a:spAutoFit/>
          </a:bodyPr>
          <a:lstStyle/>
          <a:p>
            <a:r>
              <a:rPr sz="850" b="1">
                <a:solidFill>
                  <a:srgbClr val="6E6E6E"/>
                </a:solidFill>
                <a:latin typeface="Aptos"/>
              </a:rPr>
              <a:t>THE PARTITION RULE</a:t>
            </a:r>
          </a:p>
        </p:txBody>
      </p:sp>
      <p:sp>
        <p:nvSpPr>
          <p:cNvPr id="11" name="Rounded Rectangle 10"/>
          <p:cNvSpPr/>
          <p:nvPr/>
        </p:nvSpPr>
        <p:spPr>
          <a:xfrm>
            <a:off x="658368" y="4901184"/>
            <a:ext cx="1714500"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IRC:86 urban 3.50 m</a:t>
            </a:r>
          </a:p>
        </p:txBody>
      </p:sp>
      <p:sp>
        <p:nvSpPr>
          <p:cNvPr id="12" name="Rounded Rectangle 11"/>
          <p:cNvSpPr/>
          <p:nvPr/>
        </p:nvSpPr>
        <p:spPr>
          <a:xfrm>
            <a:off x="2455164" y="4901184"/>
            <a:ext cx="163677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narrow road 3.00 m</a:t>
            </a:r>
          </a:p>
        </p:txBody>
      </p:sp>
      <p:sp>
        <p:nvSpPr>
          <p:cNvPr id="13" name="Rounded Rectangle 12"/>
          <p:cNvSpPr/>
          <p:nvPr/>
        </p:nvSpPr>
        <p:spPr>
          <a:xfrm>
            <a:off x="4174236" y="4901184"/>
            <a:ext cx="1170432"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floor 2.50 m</a:t>
            </a:r>
          </a:p>
        </p:txBody>
      </p:sp>
      <p:sp>
        <p:nvSpPr>
          <p:cNvPr id="14" name="Rounded Rectangle 13"/>
          <p:cNvSpPr/>
          <p:nvPr/>
        </p:nvSpPr>
        <p:spPr>
          <a:xfrm>
            <a:off x="5426964" y="4901184"/>
            <a:ext cx="163677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occlusion bridging</a:t>
            </a:r>
          </a:p>
        </p:txBody>
      </p:sp>
      <p:sp>
        <p:nvSpPr>
          <p:cNvPr id="15" name="Rounded Rectangle 14"/>
          <p:cNvSpPr/>
          <p:nvPr/>
        </p:nvSpPr>
        <p:spPr>
          <a:xfrm>
            <a:off x="658368" y="5257800"/>
            <a:ext cx="1325880"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median profile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The Application</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Two routes: the report, and a demo running the real pipeline.</a:t>
            </a:r>
          </a:p>
        </p:txBody>
      </p:sp>
      <p:pic>
        <p:nvPicPr>
          <p:cNvPr id="4" name="Picture 3" descr="fig18_ui_analyse.png"/>
          <p:cNvPicPr>
            <a:picLocks noChangeAspect="1"/>
          </p:cNvPicPr>
          <p:nvPr/>
        </p:nvPicPr>
        <p:blipFill>
          <a:blip r:embed="rId2"/>
          <a:stretch>
            <a:fillRect/>
          </a:stretch>
        </p:blipFill>
        <p:spPr>
          <a:xfrm>
            <a:off x="754593" y="1554480"/>
            <a:ext cx="7671390" cy="4800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Pipeline Stages</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A narrow road, a two-lane road, a painted three-lane road, and a refusal.</a:t>
            </a:r>
          </a:p>
        </p:txBody>
      </p:sp>
      <p:pic>
        <p:nvPicPr>
          <p:cNvPr id="4" name="Picture 3" descr="fig16_stage_outputs.png"/>
          <p:cNvPicPr>
            <a:picLocks noChangeAspect="1"/>
          </p:cNvPicPr>
          <p:nvPr/>
        </p:nvPicPr>
        <p:blipFill>
          <a:blip r:embed="rId2"/>
          <a:stretch>
            <a:fillRect/>
          </a:stretch>
        </p:blipFill>
        <p:spPr>
          <a:xfrm>
            <a:off x="475488" y="1554480"/>
            <a:ext cx="8229600" cy="4509751"/>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The Lane-Marking Head</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IDD has no lane annotation, so YOLOP was used offline as a teacher.</a:t>
            </a:r>
          </a:p>
        </p:txBody>
      </p:sp>
      <p:pic>
        <p:nvPicPr>
          <p:cNvPr id="4" name="Picture 3" descr="fig20_lane_head.png"/>
          <p:cNvPicPr>
            <a:picLocks noChangeAspect="1"/>
          </p:cNvPicPr>
          <p:nvPr/>
        </p:nvPicPr>
        <p:blipFill>
          <a:blip r:embed="rId2"/>
          <a:stretch>
            <a:fillRect/>
          </a:stretch>
        </p:blipFill>
        <p:spPr>
          <a:xfrm>
            <a:off x="475488" y="1554480"/>
            <a:ext cx="8229600" cy="384279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Measured Against a Floor</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Twelve configurations, same frames, same harness. Two of them never look at the image.</a:t>
            </a:r>
          </a:p>
        </p:txBody>
      </p:sp>
      <p:pic>
        <p:nvPicPr>
          <p:cNvPr id="4" name="Picture 3" descr="fig08_ablation.png"/>
          <p:cNvPicPr>
            <a:picLocks noChangeAspect="1"/>
          </p:cNvPicPr>
          <p:nvPr/>
        </p:nvPicPr>
        <p:blipFill>
          <a:blip r:embed="rId2"/>
          <a:stretch>
            <a:fillRect/>
          </a:stretch>
        </p:blipFill>
        <p:spPr>
          <a:xfrm>
            <a:off x="475488" y="1554480"/>
            <a:ext cx="8229600" cy="447286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Is the Geometry Correct?</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The hardest question in the project, and the easiest one to avoid.</a:t>
            </a:r>
          </a:p>
        </p:txBody>
      </p:sp>
      <p:sp>
        <p:nvSpPr>
          <p:cNvPr id="4" name="Rounded Rectangle 3"/>
          <p:cNvSpPr/>
          <p:nvPr/>
        </p:nvSpPr>
        <p:spPr>
          <a:xfrm>
            <a:off x="475488" y="1554480"/>
            <a:ext cx="2645664" cy="16916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There is no lane truth</a:t>
            </a:r>
          </a:p>
          <a:p>
            <a:pPr>
              <a:spcAft>
                <a:spcPts val="800"/>
              </a:spcAft>
            </a:pPr>
            <a:r>
              <a:rPr sz="850" b="1">
                <a:solidFill>
                  <a:srgbClr val="1668C0"/>
                </a:solidFill>
                <a:latin typeface="Aptos"/>
              </a:rPr>
              <a:t>THE CONSTRAINT</a:t>
            </a:r>
          </a:p>
          <a:p>
            <a:pPr>
              <a:spcAft>
                <a:spcPts val="600"/>
              </a:spcAft>
            </a:pPr>
            <a:r>
              <a:rPr sz="1100">
                <a:solidFill>
                  <a:srgbClr val="55606B"/>
                </a:solidFill>
                <a:latin typeface="Aptos"/>
              </a:rPr>
              <a:t>▪  No Indian dataset annotates lanes</a:t>
            </a:r>
          </a:p>
          <a:p>
            <a:pPr>
              <a:spcAft>
                <a:spcPts val="600"/>
              </a:spcAft>
            </a:pPr>
            <a:r>
              <a:rPr sz="1100">
                <a:solidFill>
                  <a:srgbClr val="55606B"/>
                </a:solidFill>
                <a:latin typeface="Aptos"/>
              </a:rPr>
              <a:t>▪  That absence is the premise of the project</a:t>
            </a:r>
          </a:p>
        </p:txBody>
      </p:sp>
      <p:sp>
        <p:nvSpPr>
          <p:cNvPr id="5" name="Rectangle 4"/>
          <p:cNvSpPr/>
          <p:nvPr/>
        </p:nvSpPr>
        <p:spPr>
          <a:xfrm>
            <a:off x="475488" y="1572768"/>
            <a:ext cx="68580" cy="165506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67456" y="1554480"/>
            <a:ext cx="2645664" cy="16916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But edges can be checked</a:t>
            </a:r>
          </a:p>
          <a:p>
            <a:pPr>
              <a:spcAft>
                <a:spcPts val="800"/>
              </a:spcAft>
            </a:pPr>
            <a:r>
              <a:rPr sz="850" b="1">
                <a:solidFill>
                  <a:srgbClr val="1668C0"/>
                </a:solidFill>
                <a:latin typeface="Aptos"/>
              </a:rPr>
              <a:t>WHAT IS VALIDATABLE</a:t>
            </a:r>
          </a:p>
          <a:p>
            <a:pPr>
              <a:spcAft>
                <a:spcPts val="600"/>
              </a:spcAft>
            </a:pPr>
            <a:r>
              <a:rPr sz="1100">
                <a:solidFill>
                  <a:srgbClr val="55606B"/>
                </a:solidFill>
                <a:latin typeface="Aptos"/>
              </a:rPr>
              <a:t>▪  The outermost inferred boundaries must match the real road edges</a:t>
            </a:r>
          </a:p>
          <a:p>
            <a:pPr>
              <a:spcAft>
                <a:spcPts val="600"/>
              </a:spcAft>
            </a:pPr>
            <a:r>
              <a:rPr sz="1100">
                <a:solidFill>
                  <a:srgbClr val="55606B"/>
                </a:solidFill>
                <a:latin typeface="Aptos"/>
              </a:rPr>
              <a:t>▪  Drivable ground truth gives those</a:t>
            </a:r>
          </a:p>
        </p:txBody>
      </p:sp>
      <p:sp>
        <p:nvSpPr>
          <p:cNvPr id="7" name="Rectangle 6"/>
          <p:cNvSpPr/>
          <p:nvPr/>
        </p:nvSpPr>
        <p:spPr>
          <a:xfrm>
            <a:off x="3267456" y="1572768"/>
            <a:ext cx="68580" cy="165506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059424" y="1554480"/>
            <a:ext cx="2645664" cy="169164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And the tail is heavy</a:t>
            </a:r>
          </a:p>
          <a:p>
            <a:pPr>
              <a:spcAft>
                <a:spcPts val="800"/>
              </a:spcAft>
            </a:pPr>
            <a:r>
              <a:rPr sz="850" b="1">
                <a:solidFill>
                  <a:srgbClr val="1668C0"/>
                </a:solidFill>
                <a:latin typeface="Aptos"/>
              </a:rPr>
              <a:t>STATED PLAINLY</a:t>
            </a:r>
          </a:p>
          <a:p>
            <a:pPr>
              <a:spcAft>
                <a:spcPts val="600"/>
              </a:spcAft>
            </a:pPr>
            <a:r>
              <a:rPr sz="1100">
                <a:solidFill>
                  <a:srgbClr val="55606B"/>
                </a:solidFill>
                <a:latin typeface="Aptos"/>
              </a:rPr>
              <a:t>▪  Median 0.31 m, but p90 approaches 4 m</a:t>
            </a:r>
          </a:p>
          <a:p>
            <a:pPr>
              <a:spcAft>
                <a:spcPts val="600"/>
              </a:spcAft>
            </a:pPr>
            <a:r>
              <a:rPr sz="1100">
                <a:solidFill>
                  <a:srgbClr val="55606B"/>
                </a:solidFill>
                <a:latin typeface="Aptos"/>
              </a:rPr>
              <a:t>▪  Relative width error p90 is 151 per cent</a:t>
            </a:r>
          </a:p>
        </p:txBody>
      </p:sp>
      <p:sp>
        <p:nvSpPr>
          <p:cNvPr id="9" name="Rectangle 8"/>
          <p:cNvSpPr/>
          <p:nvPr/>
        </p:nvSpPr>
        <p:spPr>
          <a:xfrm>
            <a:off x="6059424" y="1572768"/>
            <a:ext cx="68580" cy="165506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5488" y="3401568"/>
            <a:ext cx="5074920" cy="137160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So the confidence score was rebuilt</a:t>
            </a:r>
          </a:p>
          <a:p>
            <a:pPr>
              <a:spcAft>
                <a:spcPts val="500"/>
              </a:spcAft>
            </a:pPr>
            <a:r>
              <a:rPr sz="1150">
                <a:solidFill>
                  <a:srgbClr val="D8E0EC"/>
                </a:solidFill>
                <a:latin typeface="Aptos"/>
              </a:rPr>
              <a:t>Correlation with measured error 0.272, against 0.187 before. Gating at 0.7 keeps 68 per cent of frames and removes 21 per cent of the median error.</a:t>
            </a:r>
          </a:p>
        </p:txBody>
      </p:sp>
      <p:sp>
        <p:nvSpPr>
          <p:cNvPr id="11" name="Rounded Rectangle 10"/>
          <p:cNvSpPr/>
          <p:nvPr/>
        </p:nvSpPr>
        <p:spPr>
          <a:xfrm>
            <a:off x="5715000" y="3401568"/>
            <a:ext cx="2990088" cy="137160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Still not validated</a:t>
            </a:r>
          </a:p>
          <a:p>
            <a:pPr>
              <a:spcAft>
                <a:spcPts val="800"/>
              </a:spcAft>
            </a:pPr>
            <a:r>
              <a:rPr sz="850" b="1">
                <a:solidFill>
                  <a:srgbClr val="1668C0"/>
                </a:solidFill>
                <a:latin typeface="Aptos"/>
              </a:rPr>
              <a:t>INHERENT TO THE PROBLEM</a:t>
            </a:r>
          </a:p>
          <a:p>
            <a:pPr>
              <a:spcAft>
                <a:spcPts val="600"/>
              </a:spcAft>
            </a:pPr>
            <a:r>
              <a:rPr sz="1100">
                <a:solidFill>
                  <a:srgbClr val="55606B"/>
                </a:solidFill>
                <a:latin typeface="Aptos"/>
              </a:rPr>
              <a:t>▪  Interior lane divisions on unmarked roads</a:t>
            </a:r>
          </a:p>
          <a:p>
            <a:pPr>
              <a:spcAft>
                <a:spcPts val="600"/>
              </a:spcAft>
            </a:pPr>
            <a:r>
              <a:rPr sz="1100">
                <a:solidFill>
                  <a:srgbClr val="55606B"/>
                </a:solidFill>
                <a:latin typeface="Aptos"/>
              </a:rPr>
              <a:t>▪  No ground truth exists anywhere for them</a:t>
            </a:r>
          </a:p>
        </p:txBody>
      </p:sp>
      <p:sp>
        <p:nvSpPr>
          <p:cNvPr id="12" name="Rectangle 11"/>
          <p:cNvSpPr/>
          <p:nvPr/>
        </p:nvSpPr>
        <p:spPr>
          <a:xfrm>
            <a:off x="5715000" y="3419856"/>
            <a:ext cx="68580" cy="133502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5488" y="4919472"/>
            <a:ext cx="8229600" cy="1051560"/>
          </a:xfrm>
          <a:prstGeom prst="roundRect">
            <a:avLst>
              <a:gd name="adj" fmla="val 5000"/>
            </a:avLst>
          </a:prstGeom>
          <a:solidFill>
            <a:srgbClr val="F4F6FA"/>
          </a:solidFill>
          <a:ln w="7620">
            <a:solidFill>
              <a:srgbClr val="E2E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038344"/>
            <a:ext cx="7863840" cy="201168"/>
          </a:xfrm>
          <a:prstGeom prst="rect">
            <a:avLst/>
          </a:prstGeom>
          <a:noFill/>
        </p:spPr>
        <p:txBody>
          <a:bodyPr wrap="none" lIns="0" tIns="0" bIns="0">
            <a:spAutoFit/>
          </a:bodyPr>
          <a:lstStyle/>
          <a:p>
            <a:r>
              <a:rPr sz="850" b="1">
                <a:solidFill>
                  <a:srgbClr val="6E6E6E"/>
                </a:solidFill>
                <a:latin typeface="Aptos"/>
              </a:rPr>
              <a:t>SIGNALS THE REBUILT SCORE USES</a:t>
            </a:r>
          </a:p>
        </p:txBody>
      </p:sp>
      <p:sp>
        <p:nvSpPr>
          <p:cNvPr id="15" name="Rounded Rectangle 14"/>
          <p:cNvSpPr/>
          <p:nvPr/>
        </p:nvSpPr>
        <p:spPr>
          <a:xfrm>
            <a:off x="658368" y="5303520"/>
            <a:ext cx="1714500"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fit residual +0.435</a:t>
            </a:r>
          </a:p>
        </p:txBody>
      </p:sp>
      <p:sp>
        <p:nvSpPr>
          <p:cNvPr id="16" name="Rounded Rectangle 15"/>
          <p:cNvSpPr/>
          <p:nvPr/>
        </p:nvSpPr>
        <p:spPr>
          <a:xfrm>
            <a:off x="2455164" y="5303520"/>
            <a:ext cx="179222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VP confidence −0.251</a:t>
            </a:r>
          </a:p>
        </p:txBody>
      </p:sp>
      <p:sp>
        <p:nvSpPr>
          <p:cNvPr id="17" name="Rounded Rectangle 16"/>
          <p:cNvSpPr/>
          <p:nvPr/>
        </p:nvSpPr>
        <p:spPr>
          <a:xfrm>
            <a:off x="4329684" y="5303520"/>
            <a:ext cx="2025396"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both edges valid −0.248</a:t>
            </a:r>
          </a:p>
        </p:txBody>
      </p:sp>
      <p:sp>
        <p:nvSpPr>
          <p:cNvPr id="18" name="Rounded Rectangle 17"/>
          <p:cNvSpPr/>
          <p:nvPr/>
        </p:nvSpPr>
        <p:spPr>
          <a:xfrm>
            <a:off x="6437376" y="5303520"/>
            <a:ext cx="1403604" cy="274320"/>
          </a:xfrm>
          <a:prstGeom prst="roundRect">
            <a:avLst>
              <a:gd name="adj" fmla="val 28000"/>
            </a:avLst>
          </a:prstGeom>
          <a:solidFill>
            <a:srgbClr val="EEF2F8"/>
          </a:solidFill>
          <a:ln w="7620">
            <a:solidFill>
              <a:srgbClr val="D6DEEA"/>
            </a:solidFill>
          </a:ln>
          <a:effectLst>
            <a:outerShdw blurRad="38100" dist="10160" dir="2700000" rotWithShape="0">
              <a:srgbClr val="2B3A4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18872" rIns="118872" tIns="0" bIns="0"/>
          <a:lstStyle/>
          <a:p>
            <a:pPr algn="ctr"/>
            <a:r>
              <a:rPr sz="950" b="1">
                <a:solidFill>
                  <a:srgbClr val="0A2E6E"/>
                </a:solidFill>
                <a:latin typeface="Aptos"/>
              </a:rPr>
              <a:t>width CV +0.188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2922" b="1">
                <a:solidFill>
                  <a:srgbClr val="1668C0"/>
                </a:solidFill>
                <a:latin typeface="Aptos Display"/>
              </a:rPr>
              <a:t>Confidence That Predicts Error</a:t>
            </a:r>
          </a:p>
        </p:txBody>
      </p:sp>
      <p:sp>
        <p:nvSpPr>
          <p:cNvPr id="3" name="TextBox 2"/>
          <p:cNvSpPr txBox="1"/>
          <p:nvPr/>
        </p:nvSpPr>
        <p:spPr>
          <a:xfrm>
            <a:off x="457200" y="759738"/>
            <a:ext cx="6903720" cy="274320"/>
          </a:xfrm>
          <a:prstGeom prst="rect">
            <a:avLst/>
          </a:prstGeom>
          <a:noFill/>
        </p:spPr>
        <p:txBody>
          <a:bodyPr wrap="square" lIns="0" rIns="0" tIns="0" bIns="0">
            <a:spAutoFit/>
          </a:bodyPr>
          <a:lstStyle/>
          <a:p>
            <a:r>
              <a:rPr sz="1200">
                <a:solidFill>
                  <a:srgbClr val="6E6E6E"/>
                </a:solidFill>
                <a:latin typeface="Aptos"/>
              </a:rPr>
              <a:t>Gating on the rebuilt score removes most of the error tail.</a:t>
            </a:r>
          </a:p>
        </p:txBody>
      </p:sp>
      <p:pic>
        <p:nvPicPr>
          <p:cNvPr id="4" name="Picture 3" descr="fig12_confidence.png"/>
          <p:cNvPicPr>
            <a:picLocks noChangeAspect="1"/>
          </p:cNvPicPr>
          <p:nvPr/>
        </p:nvPicPr>
        <p:blipFill>
          <a:blip r:embed="rId2"/>
          <a:stretch>
            <a:fillRect/>
          </a:stretch>
        </p:blipFill>
        <p:spPr>
          <a:xfrm>
            <a:off x="475488" y="1554480"/>
            <a:ext cx="8229600" cy="329888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Temporal Stability</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150 sequences, 4,464 frames, drawn from three drives.</a:t>
            </a:r>
          </a:p>
        </p:txBody>
      </p:sp>
      <p:pic>
        <p:nvPicPr>
          <p:cNvPr id="4" name="Picture 3" descr="fig11_temporal.png"/>
          <p:cNvPicPr>
            <a:picLocks noChangeAspect="1"/>
          </p:cNvPicPr>
          <p:nvPr/>
        </p:nvPicPr>
        <p:blipFill>
          <a:blip r:embed="rId2"/>
          <a:stretch>
            <a:fillRect/>
          </a:stretch>
        </p:blipFill>
        <p:spPr>
          <a:xfrm>
            <a:off x="475488" y="1554480"/>
            <a:ext cx="8229600" cy="329888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What Did Not Work</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Four hypotheses implemented, measured and rejected.</a:t>
            </a:r>
          </a:p>
        </p:txBody>
      </p:sp>
      <p:sp>
        <p:nvSpPr>
          <p:cNvPr id="4" name="Rounded Rectangle 3"/>
          <p:cNvSpPr/>
          <p:nvPr/>
        </p:nvSpPr>
        <p:spPr>
          <a:xfrm>
            <a:off x="475488" y="1554480"/>
            <a:ext cx="4041648" cy="164592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Fusing classical and learned</a:t>
            </a:r>
          </a:p>
          <a:p>
            <a:pPr>
              <a:spcAft>
                <a:spcPts val="800"/>
              </a:spcAft>
            </a:pPr>
            <a:r>
              <a:rPr sz="850" b="1">
                <a:solidFill>
                  <a:srgbClr val="1668C0"/>
                </a:solidFill>
                <a:latin typeface="Aptos"/>
              </a:rPr>
              <a:t>0.9403 → 0.9066</a:t>
            </a:r>
          </a:p>
          <a:p>
            <a:pPr>
              <a:spcAft>
                <a:spcPts val="600"/>
              </a:spcAft>
            </a:pPr>
            <a:r>
              <a:rPr sz="1100">
                <a:solidFill>
                  <a:srgbClr val="55606B"/>
                </a:solidFill>
                <a:latin typeface="Aptos"/>
              </a:rPr>
              <a:t>▪  The hybrid premise the project started from is not supported by the data</a:t>
            </a:r>
          </a:p>
        </p:txBody>
      </p:sp>
      <p:sp>
        <p:nvSpPr>
          <p:cNvPr id="5" name="Rectangle 4"/>
          <p:cNvSpPr/>
          <p:nvPr/>
        </p:nvSpPr>
        <p:spPr>
          <a:xfrm>
            <a:off x="475488" y="1572768"/>
            <a:ext cx="68580" cy="160934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63440" y="1554480"/>
            <a:ext cx="4041648" cy="164592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Bridging before the vanishing point</a:t>
            </a:r>
          </a:p>
          <a:p>
            <a:pPr>
              <a:spcAft>
                <a:spcPts val="800"/>
              </a:spcAft>
            </a:pPr>
            <a:r>
              <a:rPr sz="850" b="1">
                <a:solidFill>
                  <a:srgbClr val="1668C0"/>
                </a:solidFill>
                <a:latin typeface="Aptos"/>
              </a:rPr>
              <a:t>90.2% → 74.5%</a:t>
            </a:r>
          </a:p>
          <a:p>
            <a:pPr>
              <a:spcAft>
                <a:spcPts val="600"/>
              </a:spcAft>
            </a:pPr>
            <a:r>
              <a:rPr sz="1100">
                <a:solidFill>
                  <a:srgbClr val="55606B"/>
                </a:solidFill>
                <a:latin typeface="Aptos"/>
              </a:rPr>
              <a:t>▪  Unioning vehicles recreates the frame-border clipping the fit already excludes</a:t>
            </a:r>
          </a:p>
        </p:txBody>
      </p:sp>
      <p:sp>
        <p:nvSpPr>
          <p:cNvPr id="7" name="Rectangle 6"/>
          <p:cNvSpPr/>
          <p:nvPr/>
        </p:nvSpPr>
        <p:spPr>
          <a:xfrm>
            <a:off x="4663440" y="1572768"/>
            <a:ext cx="68580" cy="160934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75488" y="3355848"/>
            <a:ext cx="4041648" cy="164592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Lanes from observed traffic</a:t>
            </a:r>
          </a:p>
          <a:p>
            <a:pPr>
              <a:spcAft>
                <a:spcPts val="800"/>
              </a:spcAft>
            </a:pPr>
            <a:r>
              <a:rPr sz="850" b="1">
                <a:solidFill>
                  <a:srgbClr val="1668C0"/>
                </a:solidFill>
                <a:latin typeface="Aptos"/>
              </a:rPr>
              <a:t>AGREEMENT FLAT AT 34 TO 40%</a:t>
            </a:r>
          </a:p>
          <a:p>
            <a:pPr>
              <a:spcAft>
                <a:spcPts val="600"/>
              </a:spcAft>
            </a:pPr>
            <a:r>
              <a:rPr sz="1100">
                <a:solidFill>
                  <a:srgbClr val="55606B"/>
                </a:solidFill>
                <a:latin typeface="Aptos"/>
              </a:rPr>
              <a:t>▪  More evidence does not tighten the spacing. The modes are real and they are not lanes</a:t>
            </a:r>
          </a:p>
        </p:txBody>
      </p:sp>
      <p:sp>
        <p:nvSpPr>
          <p:cNvPr id="9" name="Rectangle 8"/>
          <p:cNvSpPr/>
          <p:nvPr/>
        </p:nvSpPr>
        <p:spPr>
          <a:xfrm>
            <a:off x="475488" y="3374136"/>
            <a:ext cx="68580" cy="1609344"/>
          </a:xfrm>
          <a:prstGeom prst="rect">
            <a:avLst/>
          </a:prstGeom>
          <a:solidFill>
            <a:srgbClr val="0A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63440" y="3355848"/>
            <a:ext cx="4041648" cy="164592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450" b="1">
                <a:solidFill>
                  <a:srgbClr val="0A2E6E"/>
                </a:solidFill>
                <a:latin typeface="Aptos Display"/>
              </a:rPr>
              <a:t>Closing the dashcam gap at test time</a:t>
            </a:r>
          </a:p>
          <a:p>
            <a:pPr>
              <a:spcAft>
                <a:spcPts val="800"/>
              </a:spcAft>
            </a:pPr>
            <a:r>
              <a:rPr sz="850" b="1">
                <a:solidFill>
                  <a:srgbClr val="1668C0"/>
                </a:solidFill>
                <a:latin typeface="Aptos"/>
              </a:rPr>
              <a:t>FOUR REMEDIES, ALL REJECTED</a:t>
            </a:r>
          </a:p>
          <a:p>
            <a:pPr>
              <a:spcAft>
                <a:spcPts val="600"/>
              </a:spcAft>
            </a:pPr>
            <a:r>
              <a:rPr sz="1100">
                <a:solidFill>
                  <a:srgbClr val="55606B"/>
                </a:solidFill>
                <a:latin typeface="Aptos"/>
              </a:rPr>
              <a:t>▪  CLAHE works and cannot be applied: no image statistic separates the frames that need it</a:t>
            </a:r>
          </a:p>
        </p:txBody>
      </p:sp>
      <p:sp>
        <p:nvSpPr>
          <p:cNvPr id="11" name="Rectangle 10"/>
          <p:cNvSpPr/>
          <p:nvPr/>
        </p:nvSpPr>
        <p:spPr>
          <a:xfrm>
            <a:off x="4663440" y="3374136"/>
            <a:ext cx="68580" cy="160934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5488" y="5157216"/>
            <a:ext cx="8229600" cy="91440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Measured self-correction</a:t>
            </a:r>
          </a:p>
          <a:p>
            <a:pPr>
              <a:spcAft>
                <a:spcPts val="500"/>
              </a:spcAft>
            </a:pPr>
            <a:r>
              <a:rPr sz="1150">
                <a:solidFill>
                  <a:srgbClr val="D8E0EC"/>
                </a:solidFill>
                <a:latin typeface="Aptos"/>
              </a:rPr>
              <a:t>Three claims made confidently in earlier drafts did not survive re-measurement and are reversed in print.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9184"/>
            <a:ext cx="6903720" cy="566928"/>
          </a:xfrm>
          <a:prstGeom prst="rect">
            <a:avLst/>
          </a:prstGeom>
          <a:noFill/>
        </p:spPr>
        <p:txBody>
          <a:bodyPr wrap="none" lIns="0" rIns="0" tIns="0" bIns="0">
            <a:spAutoFit/>
          </a:bodyPr>
          <a:lstStyle/>
          <a:p>
            <a:r>
              <a:rPr sz="3000" b="1">
                <a:solidFill>
                  <a:srgbClr val="1668C0"/>
                </a:solidFill>
                <a:latin typeface="Aptos Display"/>
              </a:rPr>
              <a:t>Thank You</a:t>
            </a:r>
          </a:p>
        </p:txBody>
      </p:sp>
      <p:sp>
        <p:nvSpPr>
          <p:cNvPr id="3" name="TextBox 2"/>
          <p:cNvSpPr txBox="1"/>
          <p:nvPr/>
        </p:nvSpPr>
        <p:spPr>
          <a:xfrm>
            <a:off x="457200" y="771144"/>
            <a:ext cx="6903720" cy="274320"/>
          </a:xfrm>
          <a:prstGeom prst="rect">
            <a:avLst/>
          </a:prstGeom>
          <a:noFill/>
        </p:spPr>
        <p:txBody>
          <a:bodyPr wrap="square" lIns="0" rIns="0" tIns="0" bIns="0">
            <a:spAutoFit/>
          </a:bodyPr>
          <a:lstStyle/>
          <a:p>
            <a:r>
              <a:rPr sz="1200">
                <a:solidFill>
                  <a:srgbClr val="6E6E6E"/>
                </a:solidFill>
                <a:latin typeface="Aptos"/>
              </a:rPr>
              <a:t>Questions</a:t>
            </a:r>
          </a:p>
        </p:txBody>
      </p:sp>
      <p:sp>
        <p:nvSpPr>
          <p:cNvPr id="4" name="Rounded Rectangle 3"/>
          <p:cNvSpPr/>
          <p:nvPr/>
        </p:nvSpPr>
        <p:spPr>
          <a:xfrm>
            <a:off x="475488" y="1828800"/>
            <a:ext cx="8229600" cy="2240280"/>
          </a:xfrm>
          <a:prstGeom prst="roundRect">
            <a:avLst>
              <a:gd name="adj" fmla="val 3500"/>
            </a:avLst>
          </a:prstGeom>
          <a:solidFill>
            <a:srgbClr val="FFFFFF"/>
          </a:solidFill>
          <a:ln w="9525">
            <a:solidFill>
              <a:srgbClr val="DCE0E6"/>
            </a:solid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14884" rIns="146304" tIns="128016" bIns="109728"/>
          <a:lstStyle/>
          <a:p>
            <a:pPr>
              <a:spcAft>
                <a:spcPts val="400"/>
              </a:spcAft>
            </a:pPr>
            <a:r>
              <a:rPr sz="1500" b="1">
                <a:solidFill>
                  <a:srgbClr val="0A2E6E"/>
                </a:solidFill>
                <a:latin typeface="Aptos Display"/>
              </a:rPr>
              <a:t>Vision-Based Lane Inference for Unstructured and Structured Indian Roads</a:t>
            </a:r>
          </a:p>
          <a:p>
            <a:pPr>
              <a:spcAft>
                <a:spcPts val="800"/>
              </a:spcAft>
            </a:pPr>
            <a:r>
              <a:rPr sz="850" b="1">
                <a:solidFill>
                  <a:srgbClr val="1668C0"/>
                </a:solidFill>
                <a:latin typeface="Aptos"/>
              </a:rPr>
              <a:t>CAPSTONE PROJECT</a:t>
            </a:r>
          </a:p>
          <a:p>
            <a:pPr>
              <a:spcAft>
                <a:spcPts val="600"/>
              </a:spcAft>
            </a:pPr>
            <a:r>
              <a:rPr sz="1200">
                <a:solidFill>
                  <a:srgbClr val="55606B"/>
                </a:solidFill>
                <a:latin typeface="Aptos"/>
              </a:rPr>
              <a:t>▪  Harshwardhan Mukund Mohadikar  ·  2023EBCS353</a:t>
            </a:r>
          </a:p>
          <a:p>
            <a:pPr>
              <a:spcAft>
                <a:spcPts val="600"/>
              </a:spcAft>
            </a:pPr>
            <a:r>
              <a:rPr sz="1200">
                <a:solidFill>
                  <a:srgbClr val="55606B"/>
                </a:solidFill>
                <a:latin typeface="Aptos"/>
              </a:rPr>
              <a:t>▪  Shreyas Bhat K  ·  2023EBCS460</a:t>
            </a:r>
          </a:p>
          <a:p>
            <a:pPr>
              <a:spcAft>
                <a:spcPts val="600"/>
              </a:spcAft>
            </a:pPr>
            <a:r>
              <a:rPr sz="1200">
                <a:solidFill>
                  <a:srgbClr val="55606B"/>
                </a:solidFill>
                <a:latin typeface="Aptos"/>
              </a:rPr>
              <a:t>▪  Supervised by Dr. Ashok Yemineni</a:t>
            </a:r>
          </a:p>
        </p:txBody>
      </p:sp>
      <p:sp>
        <p:nvSpPr>
          <p:cNvPr id="5" name="Rectangle 4"/>
          <p:cNvSpPr/>
          <p:nvPr/>
        </p:nvSpPr>
        <p:spPr>
          <a:xfrm>
            <a:off x="475488" y="1847088"/>
            <a:ext cx="68580" cy="2203704"/>
          </a:xfrm>
          <a:prstGeom prst="rect">
            <a:avLst/>
          </a:prstGeom>
          <a:solidFill>
            <a:srgbClr val="166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5488" y="4297680"/>
            <a:ext cx="8229600" cy="1234440"/>
          </a:xfrm>
          <a:prstGeom prst="roundRect">
            <a:avLst>
              <a:gd name="adj" fmla="val 4500"/>
            </a:avLst>
          </a:prstGeom>
          <a:solidFill>
            <a:srgbClr val="0A2E6E"/>
          </a:solidFill>
          <a:ln>
            <a:noFill/>
          </a:ln>
          <a:effectLst>
            <a:outerShdw blurRad="76200" dist="20320" dir="2700000" rotWithShape="0">
              <a:srgbClr val="2B3A4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37744" rIns="237744" tIns="146304" bIns="146304"/>
          <a:lstStyle/>
          <a:p>
            <a:pPr>
              <a:spcAft>
                <a:spcPts val="900"/>
              </a:spcAft>
            </a:pPr>
            <a:r>
              <a:rPr sz="1500" b="1">
                <a:solidFill>
                  <a:srgbClr val="F0A500"/>
                </a:solidFill>
                <a:latin typeface="Aptos Display"/>
              </a:rPr>
              <a:t>Everything here is reproducible</a:t>
            </a:r>
          </a:p>
          <a:p>
            <a:pPr>
              <a:spcAft>
                <a:spcPts val="500"/>
              </a:spcAft>
            </a:pPr>
            <a:r>
              <a:rPr sz="1150">
                <a:solidFill>
                  <a:srgbClr val="D8E0EC"/>
                </a:solidFill>
                <a:latin typeface="Aptos"/>
              </a:rPr>
              <a:t>Every figure comes from the evaluation harness in eval/ and can be regenerated from source. No number in this deck is typed in by hand.</a:t>
            </a:r>
          </a:p>
        </p:txBody>
      </p:sp>
    </p:spTree>
  </p:cSld>
  <p:clrMapOvr>
    <a:masterClrMapping/>
  </p:clrMapOvr>
</p:sld>
</file>

<file path=ppt/theme/theme1.xml><?xml version="1.0" encoding="utf-8"?>
<a:theme xmlns:a="http://schemas.openxmlformats.org/drawingml/2006/main" name="Capstone Meet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Capstone Meeting</Template>
  <TotalTime>81</TotalTime>
  <Words>113</Words>
  <Application>Microsoft Office PowerPoint</Application>
  <PresentationFormat>On-screen Show (4:3)</PresentationFormat>
  <Paragraphs>46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Aptos SemiBold</vt:lpstr>
      <vt:lpstr>Arial</vt:lpstr>
      <vt:lpstr>Arial Narrow</vt:lpstr>
      <vt:lpstr>Capstone Meeting</vt:lpstr>
      <vt:lpstr>PowerPoint Presentation</vt:lpstr>
      <vt:lpstr>Problem Statement</vt:lpstr>
      <vt:lpstr>Objectives &amp; Scope</vt:lpstr>
      <vt:lpstr>Existing System / Literature Review</vt:lpstr>
      <vt:lpstr>Proposed System Architecture</vt:lpstr>
      <vt:lpstr>Tools &amp; Technologies</vt:lpstr>
      <vt:lpstr>Implementation / Demo</vt:lpstr>
      <vt:lpstr>Results &amp; Analysis</vt:lpstr>
      <vt:lpstr>Challenges &amp; Limitations</vt:lpstr>
      <vt:lpstr>Conclusion &amp; Future 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Praveen Kumar</cp:lastModifiedBy>
  <cp:revision>3</cp:revision>
  <dcterms:created xsi:type="dcterms:W3CDTF">2013-01-27T09:14:16Z</dcterms:created>
  <dcterms:modified xsi:type="dcterms:W3CDTF">2026-02-10T05:45:53Z</dcterms:modified>
  <cp:category/>
</cp:coreProperties>
</file>